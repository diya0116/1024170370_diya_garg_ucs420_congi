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2" r:id="rId5"/>
    <p:sldId id="261" r:id="rId6"/>
    <p:sldId id="259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3"/>
  </p:normalViewPr>
  <p:slideViewPr>
    <p:cSldViewPr snapToGrid="0">
      <p:cViewPr varScale="1">
        <p:scale>
          <a:sx n="118" d="100"/>
          <a:sy n="118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531C-20DB-493A-6CBC-A72DB03C3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1B505-6E0C-C8C6-2A8B-0CB5454EE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864B-BB81-8A94-EF48-BD685675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13BF9-C8F8-38FB-127E-83DBFFA2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B789D-EF4F-7DC8-9229-75F553C7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4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E20F-BB57-ECB9-0E16-2EECBDCD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DD475-3793-6121-0A66-3316611CF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1672F-92E2-2B9B-E16C-4E842954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CA16-DB43-0662-6802-672D787A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E867-65D3-7B77-3A70-77330D79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9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E85D-5EDE-B7AB-09C6-84BF64A42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5E952-DB65-1422-0DEC-0160D3016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28111-28CD-2A5E-3628-9A9D320A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B3339-538A-0896-285F-FBB193A9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E308A-35BF-CFFE-281A-363529F4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5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BE66-C25F-B25A-E8FD-DA0C53DC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CA549-0C9A-11E7-BF83-E647C1F0E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46AA1-3C63-77F3-44BA-FF502226F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5AEFB-C1C4-3319-749E-27FC0A00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29B9E-3752-18E4-AA46-2F38820D7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02FA1-36DC-975B-107D-A7B97330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7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D3A6-D89A-A4E0-6838-3F73BD50B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A999-48CC-870B-33DD-31651E5C0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E9D0A-414D-C78F-29FF-75E6B6360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8B0E6-CB5B-8203-38D4-2713A72AD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B1A23-45A3-3479-CAFE-C40DBFDD0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21FE1-6B51-426B-F3B8-3EE51497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20F41-52A7-1BAD-7F88-E41C6A51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92EE3-AD86-C245-2A5F-CF6BCA0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E52D-F2C8-6CF9-D738-2EFAB84B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055E0B-EE09-F39D-8C04-6769A2BA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64865-EF11-7B63-C592-563A0DE03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13698-0637-882B-9A28-D67E2A13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3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86125-C3ED-968C-CAD0-00F99AA3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41D57-F459-0B6E-4F53-879176BD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5B25F-EF26-2D56-F413-F7AD5780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5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E110-1CD8-976C-28D6-6181A7C57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704BF-4B14-B881-FF4C-9261D7E55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AC807-A0FD-6C13-F5E9-CC1650C06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B4E62-F913-45AD-95AF-A5220A2D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741ED-8E36-36C3-A4AE-1FA2002F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8B157-9B36-4886-CBC8-56C040D0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4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9756-3E54-5230-6305-A5597832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2A535-721E-9805-82A0-A966E9461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986F0-D23B-5183-2F6A-E2A4C8A86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475A8-FA56-AF7E-D682-2A8CAFAB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52DAF-7F84-7DD4-5374-BDA664AC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CBFA5-0364-22C8-47A2-E79212E9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3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6F50-FB5B-93C4-ED29-763D7CC4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902A9-A68F-D102-B910-2D9EE871B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43A05-4A0E-9B2E-FFA7-43532EC2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157E9-A5BF-B819-418C-E37D7C25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B47F1-D940-0B58-42BA-BA02A402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9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FBC62-78CF-29EB-E878-AD799C142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75243-FE42-10A4-7AE8-14F388BD4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7D12C-0E08-128A-BCAB-4D2858CE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3652D-116B-E8EE-BC1C-4C521069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F26AE-6247-6E09-8DE7-B1FC780F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6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885F4-CB95-8145-6FA5-922820E7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E07DC-6F14-6EA1-1F76-ECB03BE07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3A84-E709-756D-1AF4-43FF401BB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6B6E9-3ECA-1F49-A3B5-644A15792E3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D8FA-F7D6-3DE2-FA86-9A87907A7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F78FD-BA56-6AA7-90F8-64D7B056A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1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A690-4CBB-A0F9-452B-6B167AEE12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Pandas -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E248F-8F09-F405-E44E-AA3BE1844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437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EA7-176A-01E9-F42E-2887B1BC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42EA-FE64-EA86-37FC-CF720AB96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803853"/>
            <a:ext cx="5671457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"employee": ["Amit", "Neha", "Raj", "Priya", "Amit", "Neha",</a:t>
            </a:r>
          </a:p>
          <a:p>
            <a:pPr marL="0" indent="0">
              <a:buNone/>
            </a:pPr>
            <a:r>
              <a:rPr lang="en-US" dirty="0"/>
              <a:t>                 "Raj", "Priya", "Karan", "Karan"],</a:t>
            </a:r>
          </a:p>
          <a:p>
            <a:pPr marL="0" indent="0">
              <a:buNone/>
            </a:pPr>
            <a:r>
              <a:rPr lang="en-US" dirty="0"/>
              <a:t>    "department": ["IT", "IT", "HR", "HR", "IT", "IT",</a:t>
            </a:r>
          </a:p>
          <a:p>
            <a:pPr marL="0" indent="0">
              <a:buNone/>
            </a:pPr>
            <a:r>
              <a:rPr lang="en-US" dirty="0"/>
              <a:t>                   "HR", "HR", "Sales", "Sales"],</a:t>
            </a:r>
          </a:p>
          <a:p>
            <a:pPr marL="0" indent="0">
              <a:buNone/>
            </a:pPr>
            <a:r>
              <a:rPr lang="en-US" dirty="0"/>
              <a:t>    "salary": [70000, 85000, 60000, 75000, 90000, 80000,</a:t>
            </a:r>
          </a:p>
          <a:p>
            <a:pPr marL="0" indent="0">
              <a:buNone/>
            </a:pPr>
            <a:r>
              <a:rPr lang="en-US" dirty="0"/>
              <a:t>               65000, 70000, 55000, 65000],</a:t>
            </a:r>
          </a:p>
          <a:p>
            <a:pPr marL="0" indent="0">
              <a:buNone/>
            </a:pPr>
            <a:r>
              <a:rPr lang="en-US" dirty="0"/>
              <a:t>    "region": ["North", "North", "South", "South", "North", "North",</a:t>
            </a:r>
          </a:p>
          <a:p>
            <a:pPr marL="0" indent="0">
              <a:buNone/>
            </a:pPr>
            <a:r>
              <a:rPr lang="en-US" dirty="0"/>
              <a:t>               "South", "South", "West", "West"],</a:t>
            </a:r>
          </a:p>
          <a:p>
            <a:pPr marL="0" indent="0">
              <a:buNone/>
            </a:pPr>
            <a:r>
              <a:rPr lang="en-US" dirty="0"/>
              <a:t>    "performance": [82, 91, 76, 88, 95, 86, 80, 90, 72, 85]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AFC1DF-79C1-4437-7BF9-4279CAAEC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056020"/>
              </p:ext>
            </p:extLst>
          </p:nvPr>
        </p:nvGraphicFramePr>
        <p:xfrm>
          <a:off x="5867400" y="1690688"/>
          <a:ext cx="6183085" cy="368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2386829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287764759"/>
                    </a:ext>
                  </a:extLst>
                </a:gridCol>
                <a:gridCol w="936172">
                  <a:extLst>
                    <a:ext uri="{9D8B030D-6E8A-4147-A177-3AD203B41FA5}">
                      <a16:colId xmlns:a16="http://schemas.microsoft.com/office/drawing/2014/main" val="1857923007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30536839"/>
                    </a:ext>
                  </a:extLst>
                </a:gridCol>
                <a:gridCol w="1687285">
                  <a:extLst>
                    <a:ext uri="{9D8B030D-6E8A-4147-A177-3AD203B41FA5}">
                      <a16:colId xmlns:a16="http://schemas.microsoft.com/office/drawing/2014/main" val="3559019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employee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34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4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21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99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7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47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972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910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81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30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1859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350114-078B-1132-C48A-E133C76A5E1C}"/>
              </a:ext>
            </a:extLst>
          </p:cNvPr>
          <p:cNvSpPr txBox="1"/>
          <p:nvPr/>
        </p:nvSpPr>
        <p:spPr>
          <a:xfrm>
            <a:off x="1589314" y="6063343"/>
            <a:ext cx="932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First, try </a:t>
            </a:r>
            <a:r>
              <a:rPr lang="en-US" dirty="0" err="1"/>
              <a:t>df.groupby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242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58B1-2510-5AF1-8FBB-E692528A8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Groupby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0C48-40FA-A7D7-6BC8-8E21FF99F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df.groupby</a:t>
            </a:r>
            <a:r>
              <a:rPr lang="en-US" dirty="0"/>
              <a:t>(”department")["salary"].count()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df.groupby</a:t>
            </a:r>
            <a:r>
              <a:rPr lang="en-US" dirty="0"/>
              <a:t>("region")["salary"].count()</a:t>
            </a:r>
          </a:p>
          <a:p>
            <a:endParaRPr lang="en-US" dirty="0"/>
          </a:p>
          <a:p>
            <a:r>
              <a:rPr lang="en-US" dirty="0" err="1"/>
              <a:t>df.groupby</a:t>
            </a:r>
            <a:r>
              <a:rPr lang="en-US" dirty="0"/>
              <a:t>("region")["performance"].count()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1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0B0F-E0B6-2785-F475-02E8496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Groupby</a:t>
            </a:r>
            <a:r>
              <a:rPr lang="en-US" dirty="0"/>
              <a:t> -&gt; </a:t>
            </a:r>
            <a:r>
              <a:rPr lang="en-US" b="1" dirty="0"/>
              <a:t>apply()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04C48-78B0-749E-5FE2-C82AF48E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function </a:t>
            </a:r>
            <a:r>
              <a:rPr lang="en-US" i="1" dirty="0" err="1"/>
              <a:t>func</a:t>
            </a:r>
            <a:r>
              <a:rPr lang="en-US" i="1" dirty="0"/>
              <a:t> </a:t>
            </a:r>
            <a:r>
              <a:rPr lang="en-US" dirty="0"/>
              <a:t>group-wise and combine the results together.</a:t>
            </a:r>
          </a:p>
        </p:txBody>
      </p:sp>
    </p:spTree>
    <p:extLst>
      <p:ext uri="{BB962C8B-B14F-4D97-AF65-F5344CB8AC3E}">
        <p14:creationId xmlns:p14="http://schemas.microsoft.com/office/powerpoint/2010/main" val="126763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97EFB-B3C8-80F9-45A9-56854246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Groupby</a:t>
            </a:r>
            <a:r>
              <a:rPr lang="en-US" dirty="0"/>
              <a:t> -&gt; </a:t>
            </a:r>
            <a:r>
              <a:rPr lang="en-US" b="1" dirty="0"/>
              <a:t>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BADA6-C11E-8888-3779-B84F8ED37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function producing a same-indexed </a:t>
            </a:r>
            <a:r>
              <a:rPr lang="en-US" dirty="0" err="1"/>
              <a:t>DataFrame</a:t>
            </a:r>
            <a:r>
              <a:rPr lang="en-US" dirty="0"/>
              <a:t> on each group.</a:t>
            </a:r>
          </a:p>
          <a:p>
            <a:r>
              <a:rPr lang="en-US" dirty="0"/>
              <a:t>Returns a </a:t>
            </a:r>
            <a:r>
              <a:rPr lang="en-US" dirty="0" err="1"/>
              <a:t>DataFrame</a:t>
            </a:r>
            <a:r>
              <a:rPr lang="en-US" dirty="0"/>
              <a:t> having the same indexes as the original object filled with the transformed values.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7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0CE2-72AC-8E93-8F50-8D4146575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dirty="0" err="1"/>
              <a:t>nlargest</a:t>
            </a:r>
            <a:r>
              <a:rPr lang="en-US" dirty="0"/>
              <a:t>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16050-5358-C350-DAA0-018F292CB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2286" cy="4351338"/>
          </a:xfrm>
        </p:spPr>
        <p:txBody>
          <a:bodyPr/>
          <a:lstStyle/>
          <a:p>
            <a:r>
              <a:rPr lang="en-US" dirty="0" err="1"/>
              <a:t>DataFrame.nlargest</a:t>
            </a:r>
            <a:r>
              <a:rPr lang="en-US" dirty="0"/>
              <a:t>(n, columns, keep='first')[source]</a:t>
            </a:r>
          </a:p>
          <a:p>
            <a:pPr lvl="1"/>
            <a:r>
              <a:rPr lang="en-US" dirty="0"/>
              <a:t>Return the first n rows with the largest values in columns, in descending order. </a:t>
            </a:r>
          </a:p>
          <a:p>
            <a:pPr lvl="1"/>
            <a:r>
              <a:rPr lang="en-US" dirty="0"/>
              <a:t>The columns that are not specified are returned as well, but not used for ordering.</a:t>
            </a:r>
          </a:p>
          <a:p>
            <a:endParaRPr lang="en-US" dirty="0"/>
          </a:p>
          <a:p>
            <a:r>
              <a:rPr lang="en-US" dirty="0"/>
              <a:t>This method is equivalent to </a:t>
            </a:r>
            <a:r>
              <a:rPr lang="en-US" dirty="0" err="1"/>
              <a:t>df.sort_values</a:t>
            </a:r>
            <a:r>
              <a:rPr lang="en-US" dirty="0"/>
              <a:t>(columns, ascending=False).head(n), but </a:t>
            </a:r>
            <a:r>
              <a:rPr lang="en-US" dirty="0">
                <a:solidFill>
                  <a:srgbClr val="C00000"/>
                </a:solidFill>
              </a:rPr>
              <a:t>more performant.</a:t>
            </a:r>
          </a:p>
        </p:txBody>
      </p:sp>
    </p:spTree>
    <p:extLst>
      <p:ext uri="{BB962C8B-B14F-4D97-AF65-F5344CB8AC3E}">
        <p14:creationId xmlns:p14="http://schemas.microsoft.com/office/powerpoint/2010/main" val="320917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2DB4-C5F4-E91A-E35F-8DD48067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053205"/>
            <a:ext cx="10515600" cy="4351338"/>
          </a:xfrm>
        </p:spPr>
        <p:txBody>
          <a:bodyPr/>
          <a:lstStyle/>
          <a:p>
            <a:r>
              <a:rPr lang="en-US" b="1" dirty="0"/>
              <a:t>Find the second-highest salary in each department.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</a:rPr>
              <a:t>df.groupby</a:t>
            </a:r>
            <a:r>
              <a:rPr lang="en-US" dirty="0">
                <a:solidFill>
                  <a:srgbClr val="C00000"/>
                </a:solidFill>
              </a:rPr>
              <a:t>("department")["salary"].apply(lambda x: </a:t>
            </a:r>
            <a:r>
              <a:rPr lang="en-US" dirty="0" err="1">
                <a:solidFill>
                  <a:srgbClr val="C00000"/>
                </a:solidFill>
              </a:rPr>
              <a:t>x.nlargest</a:t>
            </a:r>
            <a:r>
              <a:rPr lang="en-US" dirty="0">
                <a:solidFill>
                  <a:srgbClr val="C00000"/>
                </a:solidFill>
              </a:rPr>
              <a:t>(2).min())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50118B-3C31-0CDD-4C8F-0C9B4CDC4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639424"/>
              </p:ext>
            </p:extLst>
          </p:nvPr>
        </p:nvGraphicFramePr>
        <p:xfrm>
          <a:off x="2754086" y="112260"/>
          <a:ext cx="6183085" cy="368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2386829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287764759"/>
                    </a:ext>
                  </a:extLst>
                </a:gridCol>
                <a:gridCol w="936172">
                  <a:extLst>
                    <a:ext uri="{9D8B030D-6E8A-4147-A177-3AD203B41FA5}">
                      <a16:colId xmlns:a16="http://schemas.microsoft.com/office/drawing/2014/main" val="1857923007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30536839"/>
                    </a:ext>
                  </a:extLst>
                </a:gridCol>
                <a:gridCol w="1687285">
                  <a:extLst>
                    <a:ext uri="{9D8B030D-6E8A-4147-A177-3AD203B41FA5}">
                      <a16:colId xmlns:a16="http://schemas.microsoft.com/office/drawing/2014/main" val="3559019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employee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34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4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21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99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7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47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972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910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81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30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185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91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9F3A-E0FA-3FBF-6537-50F0ADCA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Apply() vs 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FB02B-543C-8B66-D84A-C4826950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1004"/>
          </a:xfrm>
        </p:spPr>
        <p:txBody>
          <a:bodyPr/>
          <a:lstStyle/>
          <a:p>
            <a:r>
              <a:rPr lang="en-US" dirty="0"/>
              <a:t>Suppose every employee receives a 10% bonus.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73979-87ED-6621-CDF3-1FC9525CF5DD}"/>
              </a:ext>
            </a:extLst>
          </p:cNvPr>
          <p:cNvSpPr txBox="1"/>
          <p:nvPr/>
        </p:nvSpPr>
        <p:spPr>
          <a:xfrm>
            <a:off x="772884" y="2551566"/>
            <a:ext cx="59218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Using apply()</a:t>
            </a:r>
          </a:p>
          <a:p>
            <a:r>
              <a:rPr lang="en-US" sz="2800" dirty="0" err="1"/>
              <a:t>df</a:t>
            </a:r>
            <a:r>
              <a:rPr lang="en-US" sz="2800" dirty="0"/>
              <a:t>["bonus"] = </a:t>
            </a:r>
            <a:r>
              <a:rPr lang="en-US" sz="2800" dirty="0" err="1"/>
              <a:t>df</a:t>
            </a:r>
            <a:r>
              <a:rPr lang="en-US" sz="2800" dirty="0"/>
              <a:t>["salary"].apply(lambda x: x * 0.10)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0CAE7-EC8D-FF37-105C-2F735E356AD7}"/>
              </a:ext>
            </a:extLst>
          </p:cNvPr>
          <p:cNvSpPr txBox="1"/>
          <p:nvPr/>
        </p:nvSpPr>
        <p:spPr>
          <a:xfrm>
            <a:off x="772884" y="3936561"/>
            <a:ext cx="3875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But it processes values by applying a Python function to each element.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AD76A-53D3-6A15-9A16-01C8E51043A1}"/>
              </a:ext>
            </a:extLst>
          </p:cNvPr>
          <p:cNvSpPr txBox="1"/>
          <p:nvPr/>
        </p:nvSpPr>
        <p:spPr>
          <a:xfrm>
            <a:off x="6596742" y="2649537"/>
            <a:ext cx="83166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Vectorized Approach</a:t>
            </a:r>
          </a:p>
          <a:p>
            <a:r>
              <a:rPr lang="en-US" sz="2800" dirty="0" err="1"/>
              <a:t>df</a:t>
            </a:r>
            <a:r>
              <a:rPr lang="en-US" sz="2800" dirty="0"/>
              <a:t>["bonus"] = </a:t>
            </a:r>
            <a:r>
              <a:rPr lang="en-US" sz="2800" dirty="0" err="1"/>
              <a:t>df</a:t>
            </a:r>
            <a:r>
              <a:rPr lang="en-US" sz="2800" dirty="0"/>
              <a:t>["salary"] * 0.10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7A2A-AD1A-884D-8BB3-BC5D1801920B}"/>
              </a:ext>
            </a:extLst>
          </p:cNvPr>
          <p:cNvSpPr txBox="1"/>
          <p:nvPr/>
        </p:nvSpPr>
        <p:spPr>
          <a:xfrm>
            <a:off x="7260772" y="3701615"/>
            <a:ext cx="38753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is preferred.</a:t>
            </a:r>
          </a:p>
          <a:p>
            <a:pPr>
              <a:buNone/>
            </a:pPr>
            <a:r>
              <a:rPr lang="en-US" dirty="0"/>
              <a:t>Pandas/NumPy can perform the operation efficiently over the entire column instead of repeatedly invoking a Python-level function.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F2A5C2-2B8B-18F0-24E8-F77003CE6ABE}"/>
              </a:ext>
            </a:extLst>
          </p:cNvPr>
          <p:cNvSpPr txBox="1"/>
          <p:nvPr/>
        </p:nvSpPr>
        <p:spPr>
          <a:xfrm>
            <a:off x="1123950" y="5321556"/>
            <a:ext cx="99440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+mn-lt"/>
              </a:rPr>
              <a:t>apply()</a:t>
            </a:r>
            <a:r>
              <a:rPr lang="en-US" dirty="0">
                <a:solidFill>
                  <a:srgbClr val="C00000"/>
                </a:solidFill>
              </a:rPr>
              <a:t> is useful when the operation </a:t>
            </a:r>
            <a:r>
              <a:rPr lang="en-US" b="1" dirty="0">
                <a:solidFill>
                  <a:srgbClr val="C00000"/>
                </a:solidFill>
              </a:rPr>
              <a:t>cannot easily be expressed through vectorized Pandas operations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a lambda function is a short, one-liner anonymous function used alongside methods like .apply() or .map() to manipulate data without defining a traditional function using def</a:t>
            </a:r>
          </a:p>
        </p:txBody>
      </p:sp>
    </p:spTree>
    <p:extLst>
      <p:ext uri="{BB962C8B-B14F-4D97-AF65-F5344CB8AC3E}">
        <p14:creationId xmlns:p14="http://schemas.microsoft.com/office/powerpoint/2010/main" val="321506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6C47-5217-1BFD-FD48-B11D36D6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Explode()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2C5FF-5B28-D4C3-D2B9-093A1FB39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4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Explode() method transforms each element of a list-like structure into its own row while </a:t>
            </a:r>
            <a:r>
              <a:rPr lang="en-US" sz="2400" b="1" dirty="0"/>
              <a:t>replicating the index and non-exploded column values</a:t>
            </a:r>
            <a:r>
              <a:rPr lang="en-US" sz="2400" dirty="0"/>
              <a:t> across those new rows. </a:t>
            </a:r>
          </a:p>
          <a:p>
            <a:r>
              <a:rPr lang="en-US" sz="2400" dirty="0"/>
              <a:t>It is primarily used to unnest, flatten, or normalize datasets where a single cell contains multiple values packaged in a list, tuple, set, or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8659-3440-760D-A17C-AA6962A32EBB}"/>
              </a:ext>
            </a:extLst>
          </p:cNvPr>
          <p:cNvSpPr txBox="1"/>
          <p:nvPr/>
        </p:nvSpPr>
        <p:spPr>
          <a:xfrm>
            <a:off x="919843" y="3548743"/>
            <a:ext cx="10352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df</a:t>
            </a:r>
            <a:r>
              <a:rPr lang="en-US" sz="2400" dirty="0"/>
              <a:t> = </a:t>
            </a:r>
            <a:r>
              <a:rPr lang="en-US" sz="2400" dirty="0" err="1"/>
              <a:t>pd.DataFrame</a:t>
            </a:r>
            <a:r>
              <a:rPr lang="en-US" sz="2400" dirty="0"/>
              <a:t>({"student": ["A", "B"], "subjects": [["Math", "Sci"], ["Eng"]]})</a:t>
            </a:r>
          </a:p>
          <a:p>
            <a:r>
              <a:rPr lang="en-US" sz="2400" dirty="0" err="1"/>
              <a:t>df.explode</a:t>
            </a:r>
            <a:r>
              <a:rPr lang="en-US" sz="2400" dirty="0"/>
              <a:t>("subjects")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FB7276-A6EB-CFF4-904A-FD40FA140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585" y="4306660"/>
            <a:ext cx="26162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1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9A20-1C36-9790-03F8-84E7E091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D9AD1-8642-68CF-8D9A-A57299B6D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two </a:t>
            </a:r>
            <a:r>
              <a:rPr lang="en-US" dirty="0" err="1"/>
              <a:t>DataFrames</a:t>
            </a:r>
            <a:r>
              <a:rPr lang="en-US" dirty="0"/>
              <a:t> or named Series using </a:t>
            </a:r>
            <a:r>
              <a:rPr lang="en-US" b="1" dirty="0"/>
              <a:t>SQL-style database joins</a:t>
            </a:r>
            <a:r>
              <a:rPr lang="en-US" dirty="0"/>
              <a:t> based on common columns or indexes. </a:t>
            </a:r>
          </a:p>
          <a:p>
            <a:r>
              <a:rPr lang="en-US" dirty="0"/>
              <a:t>By default, it performs an </a:t>
            </a:r>
            <a:r>
              <a:rPr lang="en-US" b="1" dirty="0"/>
              <a:t>inner join</a:t>
            </a:r>
            <a:r>
              <a:rPr lang="en-US" dirty="0"/>
              <a:t>, keeping only the rows with matching keys in both datasets</a:t>
            </a:r>
          </a:p>
          <a:p>
            <a:pPr lvl="1"/>
            <a:r>
              <a:rPr lang="en-US" dirty="0"/>
              <a:t>Try other join types</a:t>
            </a:r>
          </a:p>
          <a:p>
            <a:r>
              <a:rPr lang="en-US" i="1" dirty="0"/>
              <a:t>If you merge two </a:t>
            </a:r>
            <a:r>
              <a:rPr lang="en-US" i="1" dirty="0" err="1"/>
              <a:t>DataFrames</a:t>
            </a:r>
            <a:r>
              <a:rPr lang="en-US" i="1" dirty="0"/>
              <a:t> on a column and don't specify how=, what happens to rows that exist in only one </a:t>
            </a:r>
            <a:r>
              <a:rPr lang="en-US" i="1" dirty="0" err="1"/>
              <a:t>DataFrame</a:t>
            </a:r>
            <a:r>
              <a:rPr lang="en-US" i="1" dirty="0"/>
              <a:t>?”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They're dropped.</a:t>
            </a:r>
            <a:r>
              <a:rPr lang="en-US" dirty="0">
                <a:solidFill>
                  <a:srgbClr val="C00000"/>
                </a:solidFill>
              </a:rPr>
              <a:t> Default is how="inner" — a very common silent-data-loss bug in real pipelines.</a:t>
            </a:r>
          </a:p>
        </p:txBody>
      </p:sp>
    </p:spTree>
    <p:extLst>
      <p:ext uri="{BB962C8B-B14F-4D97-AF65-F5344CB8AC3E}">
        <p14:creationId xmlns:p14="http://schemas.microsoft.com/office/powerpoint/2010/main" val="265341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FDDA-98C3-083A-2139-AE25686F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Merge() (contd..)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B128-D4E3-421E-81C5-937F461E3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df1 = </a:t>
            </a:r>
            <a:r>
              <a:rPr lang="en-US" dirty="0" err="1"/>
              <a:t>pd.DataFrame</a:t>
            </a:r>
            <a:r>
              <a:rPr lang="en-US" dirty="0"/>
              <a:t>({'</a:t>
            </a:r>
            <a:r>
              <a:rPr lang="en-US" dirty="0" err="1"/>
              <a:t>user_id</a:t>
            </a:r>
            <a:r>
              <a:rPr lang="en-US" dirty="0"/>
              <a:t>': [1, 2, 3], 'name': ['Alice', 'Bob', 'Charlie']})</a:t>
            </a:r>
          </a:p>
          <a:p>
            <a:pPr marL="0" indent="0">
              <a:buNone/>
            </a:pPr>
            <a:r>
              <a:rPr lang="en-US" dirty="0"/>
              <a:t>df2 = </a:t>
            </a:r>
            <a:r>
              <a:rPr lang="en-US" dirty="0" err="1"/>
              <a:t>pd.DataFrame</a:t>
            </a:r>
            <a:r>
              <a:rPr lang="en-US" dirty="0"/>
              <a:t>({'</a:t>
            </a:r>
            <a:r>
              <a:rPr lang="en-US" dirty="0" err="1"/>
              <a:t>user_id</a:t>
            </a:r>
            <a:r>
              <a:rPr lang="en-US" dirty="0"/>
              <a:t>': [2, 3, 4], 'spend': [50, 120, 10]})</a:t>
            </a:r>
          </a:p>
          <a:p>
            <a:pPr marL="0" indent="0">
              <a:buNone/>
            </a:pPr>
            <a:r>
              <a:rPr lang="en-US" dirty="0" err="1"/>
              <a:t>pd.merge</a:t>
            </a:r>
            <a:r>
              <a:rPr lang="en-US" dirty="0"/>
              <a:t>(df1, df2, on='</a:t>
            </a:r>
            <a:r>
              <a:rPr lang="en-US" dirty="0" err="1"/>
              <a:t>user_id</a:t>
            </a:r>
            <a:r>
              <a:rPr lang="en-US" dirty="0"/>
              <a:t>', how='inner')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A1DBB-15D9-F804-928A-79C75705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4432300"/>
            <a:ext cx="29464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81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EEDC-1FC1-F752-FD8D-F535AC97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consecutive streak patterns with shift() and </a:t>
            </a:r>
            <a:r>
              <a:rPr lang="en-US" dirty="0" err="1"/>
              <a:t>cumsum</a:t>
            </a:r>
            <a:r>
              <a:rPr lang="en-US" dirty="0"/>
              <a:t>()</a:t>
            </a:r>
            <a:br>
              <a:rPr lang="en-US" dirty="0"/>
            </a:br>
            <a:r>
              <a:rPr lang="en-US" sz="2200" i="1" dirty="0"/>
              <a:t>in time-series analysis, attendance streaks, login sessions, stock movements, etc.</a:t>
            </a:r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7C9DF-0891-A7BB-7F78-D2DB9E7DFDE0}"/>
              </a:ext>
            </a:extLst>
          </p:cNvPr>
          <p:cNvSpPr txBox="1"/>
          <p:nvPr/>
        </p:nvSpPr>
        <p:spPr>
          <a:xfrm>
            <a:off x="838200" y="2024467"/>
            <a:ext cx="3657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r>
              <a:rPr lang="en-US" dirty="0"/>
              <a:t>    "day": [1, 2, 3, 4, 5, 6, 7],</a:t>
            </a:r>
          </a:p>
          <a:p>
            <a:r>
              <a:rPr lang="en-US" dirty="0"/>
              <a:t>    "status": [</a:t>
            </a:r>
          </a:p>
          <a:p>
            <a:r>
              <a:rPr lang="en-US" dirty="0"/>
              <a:t>        "Up", "Up", "Up",</a:t>
            </a:r>
          </a:p>
          <a:p>
            <a:r>
              <a:rPr lang="en-US" dirty="0"/>
              <a:t>        "Down", "Down",</a:t>
            </a:r>
          </a:p>
          <a:p>
            <a:r>
              <a:rPr lang="en-US" dirty="0"/>
              <a:t>        "Up", "Up"</a:t>
            </a:r>
          </a:p>
          <a:p>
            <a:r>
              <a:rPr lang="en-US" dirty="0"/>
              <a:t>    ]</a:t>
            </a:r>
          </a:p>
          <a:p>
            <a:r>
              <a:rPr lang="en-US" dirty="0"/>
              <a:t>})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E533E-567F-11DE-F0BB-36B22FC29A25}"/>
              </a:ext>
            </a:extLst>
          </p:cNvPr>
          <p:cNvSpPr txBox="1"/>
          <p:nvPr/>
        </p:nvSpPr>
        <p:spPr>
          <a:xfrm>
            <a:off x="5257800" y="2024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["previous"] = </a:t>
            </a:r>
            <a:r>
              <a:rPr lang="en-US" dirty="0" err="1"/>
              <a:t>df</a:t>
            </a:r>
            <a:r>
              <a:rPr lang="en-US" dirty="0"/>
              <a:t>["status"].shift()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C27A6E-A074-28C4-D89A-255444B26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824667"/>
              </p:ext>
            </p:extLst>
          </p:nvPr>
        </p:nvGraphicFramePr>
        <p:xfrm>
          <a:off x="4822370" y="2727578"/>
          <a:ext cx="5388429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6143">
                  <a:extLst>
                    <a:ext uri="{9D8B030D-6E8A-4147-A177-3AD203B41FA5}">
                      <a16:colId xmlns:a16="http://schemas.microsoft.com/office/drawing/2014/main" val="3498453787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2033319153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3081663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previous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5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818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14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7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383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512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41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51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D33A-E2FA-B40E-2FCF-57A79B1E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Finding consecutive streak patterns with shift() and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cumsum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()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 time-series analysis, attendance streaks, login sessions, stock movements, etc.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6507E-2A1E-1411-FEA4-D7C925E6FE4E}"/>
              </a:ext>
            </a:extLst>
          </p:cNvPr>
          <p:cNvSpPr txBox="1"/>
          <p:nvPr/>
        </p:nvSpPr>
        <p:spPr>
          <a:xfrm>
            <a:off x="751114" y="1970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["status"] != </a:t>
            </a:r>
            <a:r>
              <a:rPr lang="en-US" dirty="0" err="1"/>
              <a:t>df</a:t>
            </a:r>
            <a:r>
              <a:rPr lang="en-US" dirty="0"/>
              <a:t>["status"].shift()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D2AD3-F7F4-2014-FCC1-9175843A13C3}"/>
              </a:ext>
            </a:extLst>
          </p:cNvPr>
          <p:cNvSpPr txBox="1"/>
          <p:nvPr/>
        </p:nvSpPr>
        <p:spPr>
          <a:xfrm>
            <a:off x="979715" y="2707252"/>
            <a:ext cx="783771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46998-5A65-E669-700B-10736B30F2D8}"/>
              </a:ext>
            </a:extLst>
          </p:cNvPr>
          <p:cNvSpPr txBox="1"/>
          <p:nvPr/>
        </p:nvSpPr>
        <p:spPr>
          <a:xfrm>
            <a:off x="2590799" y="34454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These </a:t>
            </a:r>
            <a:r>
              <a:rPr lang="en-US" dirty="0">
                <a:latin typeface="+mn-lt"/>
              </a:rPr>
              <a:t>True</a:t>
            </a:r>
            <a:r>
              <a:rPr lang="en-US" dirty="0"/>
              <a:t>s identify </a:t>
            </a:r>
            <a:r>
              <a:rPr lang="en-US" b="1" dirty="0"/>
              <a:t>where a new streak starts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102A8-9A22-AA63-E507-16D8F642E393}"/>
              </a:ext>
            </a:extLst>
          </p:cNvPr>
          <p:cNvSpPr txBox="1"/>
          <p:nvPr/>
        </p:nvSpPr>
        <p:spPr>
          <a:xfrm>
            <a:off x="751114" y="5025259"/>
            <a:ext cx="9840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["</a:t>
            </a:r>
            <a:r>
              <a:rPr lang="en-US" dirty="0" err="1"/>
              <a:t>streak_id</a:t>
            </a:r>
            <a:r>
              <a:rPr lang="en-US" dirty="0"/>
              <a:t>"] = (</a:t>
            </a:r>
          </a:p>
          <a:p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["status"] != </a:t>
            </a:r>
            <a:r>
              <a:rPr lang="en-US" dirty="0" err="1"/>
              <a:t>df</a:t>
            </a:r>
            <a:r>
              <a:rPr lang="en-US" dirty="0"/>
              <a:t>["status"].shift()).</a:t>
            </a:r>
            <a:r>
              <a:rPr lang="en-US" dirty="0" err="1"/>
              <a:t>cumsum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43350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7C23-7279-44BE-3AAD-17591347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Idxmax</a:t>
            </a:r>
            <a:r>
              <a:rPr lang="en-US" dirty="0"/>
              <a:t>() vs max()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B51D9-E280-F6D7-878D-21CB47FF1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df</a:t>
            </a:r>
            <a:r>
              <a:rPr lang="en-US" dirty="0"/>
              <a:t>[‘performance’].max().  </a:t>
            </a:r>
            <a:r>
              <a:rPr lang="en-US"/>
              <a:t>-&gt; 95</a:t>
            </a:r>
            <a:endParaRPr lang="en-US" dirty="0"/>
          </a:p>
          <a:p>
            <a:r>
              <a:rPr lang="en-US" dirty="0"/>
              <a:t>Which employee has the highest performance?</a:t>
            </a:r>
          </a:p>
          <a:p>
            <a:r>
              <a:rPr lang="en-US" dirty="0" err="1"/>
              <a:t>df.loc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["performance"].</a:t>
            </a:r>
            <a:r>
              <a:rPr lang="en-US" dirty="0" err="1"/>
              <a:t>idxmax</a:t>
            </a:r>
            <a:r>
              <a:rPr lang="en-US" dirty="0"/>
              <a:t>()]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E9552-75A6-0683-B722-A215BF645ED7}"/>
              </a:ext>
            </a:extLst>
          </p:cNvPr>
          <p:cNvSpPr txBox="1"/>
          <p:nvPr/>
        </p:nvSpPr>
        <p:spPr>
          <a:xfrm>
            <a:off x="3048000" y="1343361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employee department  salary region  performance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0     Amit         IT   70000  North           82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1     Neha         IT   85000  North           91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2      Raj         HR   60000  South           76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3    Priya         HR   75000  South           88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4     Amit         IT   90000  North           95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5     Neha         IT   80000  North           86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6      Raj         HR   65000  South           80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7    Priya         HR   70000  South           90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8    Karan      Sales   55000   West           72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9    Karan      Sales   65000   West           85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B257E8-E7A4-2BF8-647A-7A6E38E4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0" y="3435349"/>
            <a:ext cx="29464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6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1152</Words>
  <Application>Microsoft Macintosh PowerPoint</Application>
  <PresentationFormat>Widescreen</PresentationFormat>
  <Paragraphs>238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Pandas - II</vt:lpstr>
      <vt:lpstr>Employee DataFrame</vt:lpstr>
      <vt:lpstr>Groupby Commands</vt:lpstr>
      <vt:lpstr>Groupby -&gt; apply()</vt:lpstr>
      <vt:lpstr>Groupby -&gt; Transform</vt:lpstr>
      <vt:lpstr>Pandas nlargest() Method</vt:lpstr>
      <vt:lpstr>PowerPoint Presentation</vt:lpstr>
      <vt:lpstr>Apply() vs Vectorization</vt:lpstr>
      <vt:lpstr>Explode()</vt:lpstr>
      <vt:lpstr>Merge()</vt:lpstr>
      <vt:lpstr>Merge() (contd..)</vt:lpstr>
      <vt:lpstr>Finding consecutive streak patterns with shift() and cumsum() in time-series analysis, attendance streaks, login sessions, stock movements, etc.</vt:lpstr>
      <vt:lpstr>Finding consecutive streak patterns with shift() and cumsum() in time-series analysis, attendance streaks, login sessions, stock movements, etc.</vt:lpstr>
      <vt:lpstr>Idxmax() vs max()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Manisha Malik</dc:creator>
  <cp:lastModifiedBy>Manisha Malik</cp:lastModifiedBy>
  <cp:revision>53</cp:revision>
  <dcterms:created xsi:type="dcterms:W3CDTF">2026-08-14T18:21:13Z</dcterms:created>
  <dcterms:modified xsi:type="dcterms:W3CDTF">2026-08-16T17:56:48Z</dcterms:modified>
</cp:coreProperties>
</file>