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3"/>
  </p:notesMasterIdLst>
  <p:sldIdLst>
    <p:sldId id="256" r:id="rId2"/>
    <p:sldId id="258" r:id="rId3"/>
    <p:sldId id="260" r:id="rId4"/>
    <p:sldId id="259" r:id="rId5"/>
    <p:sldId id="262" r:id="rId6"/>
    <p:sldId id="302" r:id="rId7"/>
    <p:sldId id="297" r:id="rId8"/>
    <p:sldId id="263" r:id="rId9"/>
    <p:sldId id="265" r:id="rId10"/>
    <p:sldId id="266" r:id="rId11"/>
    <p:sldId id="268" r:id="rId12"/>
    <p:sldId id="267" r:id="rId13"/>
    <p:sldId id="269" r:id="rId14"/>
    <p:sldId id="270" r:id="rId15"/>
    <p:sldId id="271" r:id="rId16"/>
    <p:sldId id="272" r:id="rId17"/>
    <p:sldId id="321" r:id="rId18"/>
    <p:sldId id="264" r:id="rId19"/>
    <p:sldId id="322" r:id="rId20"/>
    <p:sldId id="303" r:id="rId21"/>
    <p:sldId id="304" r:id="rId22"/>
    <p:sldId id="257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73" r:id="rId32"/>
    <p:sldId id="274" r:id="rId33"/>
    <p:sldId id="305" r:id="rId34"/>
    <p:sldId id="299" r:id="rId35"/>
    <p:sldId id="306" r:id="rId36"/>
    <p:sldId id="298" r:id="rId37"/>
    <p:sldId id="307" r:id="rId38"/>
    <p:sldId id="327" r:id="rId39"/>
    <p:sldId id="284" r:id="rId40"/>
    <p:sldId id="323" r:id="rId41"/>
    <p:sldId id="300" r:id="rId42"/>
    <p:sldId id="285" r:id="rId43"/>
    <p:sldId id="324" r:id="rId44"/>
    <p:sldId id="325" r:id="rId45"/>
    <p:sldId id="326" r:id="rId46"/>
    <p:sldId id="286" r:id="rId47"/>
    <p:sldId id="308" r:id="rId48"/>
    <p:sldId id="311" r:id="rId49"/>
    <p:sldId id="309" r:id="rId50"/>
    <p:sldId id="312" r:id="rId51"/>
    <p:sldId id="310" r:id="rId52"/>
    <p:sldId id="313" r:id="rId53"/>
    <p:sldId id="314" r:id="rId54"/>
    <p:sldId id="315" r:id="rId55"/>
    <p:sldId id="316" r:id="rId56"/>
    <p:sldId id="317" r:id="rId57"/>
    <p:sldId id="318" r:id="rId58"/>
    <p:sldId id="319" r:id="rId59"/>
    <p:sldId id="320" r:id="rId60"/>
    <p:sldId id="287" r:id="rId61"/>
    <p:sldId id="288" r:id="rId62"/>
    <p:sldId id="289" r:id="rId63"/>
    <p:sldId id="290" r:id="rId64"/>
    <p:sldId id="291" r:id="rId65"/>
    <p:sldId id="292" r:id="rId66"/>
    <p:sldId id="293" r:id="rId67"/>
    <p:sldId id="294" r:id="rId68"/>
    <p:sldId id="295" r:id="rId69"/>
    <p:sldId id="296" r:id="rId70"/>
    <p:sldId id="301" r:id="rId71"/>
    <p:sldId id="328" r:id="rId7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75"/>
    <p:restoredTop sz="90782"/>
  </p:normalViewPr>
  <p:slideViewPr>
    <p:cSldViewPr snapToGrid="0">
      <p:cViewPr varScale="1">
        <p:scale>
          <a:sx n="112" d="100"/>
          <a:sy n="112" d="100"/>
        </p:scale>
        <p:origin x="4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5F7B43-7C9F-C54E-8040-A2D7194DBDFA}" type="doc">
      <dgm:prSet loTypeId="urn:microsoft.com/office/officeart/2005/8/layout/orgChart1" loCatId="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1371DAD1-7DEF-BA4B-820C-12141285C3B5}">
      <dgm:prSet phldrT="[Text]" custT="1"/>
      <dgm:spPr/>
      <dgm:t>
        <a:bodyPr/>
        <a:lstStyle/>
        <a:p>
          <a:r>
            <a:rPr lang="en-US" sz="4000" dirty="0"/>
            <a:t>Product</a:t>
          </a:r>
        </a:p>
      </dgm:t>
    </dgm:pt>
    <dgm:pt modelId="{495D0D99-D3E8-B249-9277-343BADCD6787}" type="parTrans" cxnId="{B0430AE6-2F95-E94A-A97E-A53397F14CB0}">
      <dgm:prSet/>
      <dgm:spPr/>
      <dgm:t>
        <a:bodyPr/>
        <a:lstStyle/>
        <a:p>
          <a:endParaRPr lang="en-US" sz="1100"/>
        </a:p>
      </dgm:t>
    </dgm:pt>
    <dgm:pt modelId="{FEBEC229-92A5-5540-8510-2D0240144799}" type="sibTrans" cxnId="{B0430AE6-2F95-E94A-A97E-A53397F14CB0}">
      <dgm:prSet/>
      <dgm:spPr/>
      <dgm:t>
        <a:bodyPr/>
        <a:lstStyle/>
        <a:p>
          <a:endParaRPr lang="en-US" sz="1100"/>
        </a:p>
      </dgm:t>
    </dgm:pt>
    <dgm:pt modelId="{5E6EA392-61FD-4247-B9E9-EE6A97426DCB}">
      <dgm:prSet phldrT="[Text]" custT="1"/>
      <dgm:spPr/>
      <dgm:t>
        <a:bodyPr/>
        <a:lstStyle/>
        <a:p>
          <a:r>
            <a:rPr lang="en-US" sz="2800" dirty="0"/>
            <a:t>Hadamard</a:t>
          </a:r>
        </a:p>
        <a:p>
          <a:r>
            <a:rPr lang="en-US" sz="2800" dirty="0"/>
            <a:t>(Element wise)</a:t>
          </a:r>
        </a:p>
      </dgm:t>
    </dgm:pt>
    <dgm:pt modelId="{3696A250-DCA8-5A42-AFFB-5BD9D0F622BB}" type="parTrans" cxnId="{F1A73CE5-CA47-9744-9586-A204241799DF}">
      <dgm:prSet/>
      <dgm:spPr/>
      <dgm:t>
        <a:bodyPr/>
        <a:lstStyle/>
        <a:p>
          <a:endParaRPr lang="en-US" sz="1100"/>
        </a:p>
      </dgm:t>
    </dgm:pt>
    <dgm:pt modelId="{1C85E873-95DC-E64E-B933-09E08E1063C2}" type="sibTrans" cxnId="{F1A73CE5-CA47-9744-9586-A204241799DF}">
      <dgm:prSet/>
      <dgm:spPr/>
      <dgm:t>
        <a:bodyPr/>
        <a:lstStyle/>
        <a:p>
          <a:endParaRPr lang="en-US" sz="1100"/>
        </a:p>
      </dgm:t>
    </dgm:pt>
    <dgm:pt modelId="{A2505DEA-14E2-DD48-A8FE-0952964C2A3F}">
      <dgm:prSet phldrT="[Text]" custT="1"/>
      <dgm:spPr/>
      <dgm:t>
        <a:bodyPr/>
        <a:lstStyle/>
        <a:p>
          <a:r>
            <a:rPr lang="en-US" sz="2000" dirty="0"/>
            <a:t>Dot</a:t>
          </a:r>
        </a:p>
        <a:p>
          <a:r>
            <a:rPr lang="en-US" sz="2000" dirty="0"/>
            <a:t>(Matrix Multiplication)</a:t>
          </a:r>
        </a:p>
      </dgm:t>
    </dgm:pt>
    <dgm:pt modelId="{58E406C9-792A-3F48-BD86-9D9A19A2F911}" type="parTrans" cxnId="{80230096-8C4F-374D-AF01-37B4F988339F}">
      <dgm:prSet/>
      <dgm:spPr/>
      <dgm:t>
        <a:bodyPr/>
        <a:lstStyle/>
        <a:p>
          <a:endParaRPr lang="en-US" sz="1100"/>
        </a:p>
      </dgm:t>
    </dgm:pt>
    <dgm:pt modelId="{8EC90B90-ED3D-8C41-ACCD-15F8DA5FC704}" type="sibTrans" cxnId="{80230096-8C4F-374D-AF01-37B4F988339F}">
      <dgm:prSet/>
      <dgm:spPr/>
      <dgm:t>
        <a:bodyPr/>
        <a:lstStyle/>
        <a:p>
          <a:endParaRPr lang="en-US" sz="1100"/>
        </a:p>
      </dgm:t>
    </dgm:pt>
    <dgm:pt modelId="{7D4A5C36-8346-FB4F-950B-6A916E32FE58}">
      <dgm:prSet phldrT="[Text]" custT="1"/>
      <dgm:spPr/>
      <dgm:t>
        <a:bodyPr/>
        <a:lstStyle/>
        <a:p>
          <a:r>
            <a:rPr lang="en-US" sz="2400" dirty="0"/>
            <a:t>Cross</a:t>
          </a:r>
        </a:p>
        <a:p>
          <a:r>
            <a:rPr lang="en-US" sz="2400" dirty="0"/>
            <a:t>(Vector Product)</a:t>
          </a:r>
        </a:p>
      </dgm:t>
    </dgm:pt>
    <dgm:pt modelId="{BA0C135E-FF7B-2347-9A1D-1B11B28D098D}" type="parTrans" cxnId="{92ED4EAA-F2CA-A248-886B-812096EC450D}">
      <dgm:prSet/>
      <dgm:spPr/>
      <dgm:t>
        <a:bodyPr/>
        <a:lstStyle/>
        <a:p>
          <a:endParaRPr lang="en-US" sz="1100"/>
        </a:p>
      </dgm:t>
    </dgm:pt>
    <dgm:pt modelId="{BDEEC751-3B25-BC4E-B0EF-585B1317FFBB}" type="sibTrans" cxnId="{92ED4EAA-F2CA-A248-886B-812096EC450D}">
      <dgm:prSet/>
      <dgm:spPr/>
      <dgm:t>
        <a:bodyPr/>
        <a:lstStyle/>
        <a:p>
          <a:endParaRPr lang="en-US" sz="1100"/>
        </a:p>
      </dgm:t>
    </dgm:pt>
    <dgm:pt modelId="{B6941EDC-CD39-E84D-8FF7-83C0443B6B71}" type="pres">
      <dgm:prSet presAssocID="{175F7B43-7C9F-C54E-8040-A2D7194DBDF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D3FA70A-B3D4-094C-BF1B-5DAAACA2C85F}" type="pres">
      <dgm:prSet presAssocID="{1371DAD1-7DEF-BA4B-820C-12141285C3B5}" presName="hierRoot1" presStyleCnt="0">
        <dgm:presLayoutVars>
          <dgm:hierBranch val="init"/>
        </dgm:presLayoutVars>
      </dgm:prSet>
      <dgm:spPr/>
    </dgm:pt>
    <dgm:pt modelId="{423B58B3-95B2-914B-BA49-94A5F7AA9977}" type="pres">
      <dgm:prSet presAssocID="{1371DAD1-7DEF-BA4B-820C-12141285C3B5}" presName="rootComposite1" presStyleCnt="0"/>
      <dgm:spPr/>
    </dgm:pt>
    <dgm:pt modelId="{B073C2B9-08A8-0949-B1B4-324284E7C39B}" type="pres">
      <dgm:prSet presAssocID="{1371DAD1-7DEF-BA4B-820C-12141285C3B5}" presName="rootText1" presStyleLbl="node0" presStyleIdx="0" presStyleCnt="1">
        <dgm:presLayoutVars>
          <dgm:chPref val="3"/>
        </dgm:presLayoutVars>
      </dgm:prSet>
      <dgm:spPr/>
    </dgm:pt>
    <dgm:pt modelId="{93FB25F7-F37E-AC41-8966-9C207F6C1407}" type="pres">
      <dgm:prSet presAssocID="{1371DAD1-7DEF-BA4B-820C-12141285C3B5}" presName="rootConnector1" presStyleLbl="node1" presStyleIdx="0" presStyleCnt="0"/>
      <dgm:spPr/>
    </dgm:pt>
    <dgm:pt modelId="{95217250-4C05-0F43-89BB-BF360E1522EF}" type="pres">
      <dgm:prSet presAssocID="{1371DAD1-7DEF-BA4B-820C-12141285C3B5}" presName="hierChild2" presStyleCnt="0"/>
      <dgm:spPr/>
    </dgm:pt>
    <dgm:pt modelId="{BA9EA402-B952-8C4F-9A39-CECEFF2A6BCA}" type="pres">
      <dgm:prSet presAssocID="{3696A250-DCA8-5A42-AFFB-5BD9D0F622BB}" presName="Name37" presStyleLbl="parChTrans1D2" presStyleIdx="0" presStyleCnt="3"/>
      <dgm:spPr/>
    </dgm:pt>
    <dgm:pt modelId="{0DA19156-1550-594C-9573-21F68A959406}" type="pres">
      <dgm:prSet presAssocID="{5E6EA392-61FD-4247-B9E9-EE6A97426DCB}" presName="hierRoot2" presStyleCnt="0">
        <dgm:presLayoutVars>
          <dgm:hierBranch val="init"/>
        </dgm:presLayoutVars>
      </dgm:prSet>
      <dgm:spPr/>
    </dgm:pt>
    <dgm:pt modelId="{BC04FA6A-EB27-4B4A-BD8C-FC7E17247E91}" type="pres">
      <dgm:prSet presAssocID="{5E6EA392-61FD-4247-B9E9-EE6A97426DCB}" presName="rootComposite" presStyleCnt="0"/>
      <dgm:spPr/>
    </dgm:pt>
    <dgm:pt modelId="{7D8BA7DB-E2E0-C94F-A468-65E6587700CC}" type="pres">
      <dgm:prSet presAssocID="{5E6EA392-61FD-4247-B9E9-EE6A97426DCB}" presName="rootText" presStyleLbl="node2" presStyleIdx="0" presStyleCnt="3" custScaleX="112379">
        <dgm:presLayoutVars>
          <dgm:chPref val="3"/>
        </dgm:presLayoutVars>
      </dgm:prSet>
      <dgm:spPr/>
    </dgm:pt>
    <dgm:pt modelId="{2ED27CBE-F05D-2746-B2E8-9F249083FCB1}" type="pres">
      <dgm:prSet presAssocID="{5E6EA392-61FD-4247-B9E9-EE6A97426DCB}" presName="rootConnector" presStyleLbl="node2" presStyleIdx="0" presStyleCnt="3"/>
      <dgm:spPr/>
    </dgm:pt>
    <dgm:pt modelId="{B04AF684-A68C-A448-A240-1A5EEA0D5A15}" type="pres">
      <dgm:prSet presAssocID="{5E6EA392-61FD-4247-B9E9-EE6A97426DCB}" presName="hierChild4" presStyleCnt="0"/>
      <dgm:spPr/>
    </dgm:pt>
    <dgm:pt modelId="{8616FDFC-97B1-4348-961D-BF838C6D1D9E}" type="pres">
      <dgm:prSet presAssocID="{5E6EA392-61FD-4247-B9E9-EE6A97426DCB}" presName="hierChild5" presStyleCnt="0"/>
      <dgm:spPr/>
    </dgm:pt>
    <dgm:pt modelId="{65236805-C6F9-8F4D-A1DE-31EA4DACF33A}" type="pres">
      <dgm:prSet presAssocID="{58E406C9-792A-3F48-BD86-9D9A19A2F911}" presName="Name37" presStyleLbl="parChTrans1D2" presStyleIdx="1" presStyleCnt="3"/>
      <dgm:spPr/>
    </dgm:pt>
    <dgm:pt modelId="{7757F1DE-8727-AF45-AD24-170B5FB46EC8}" type="pres">
      <dgm:prSet presAssocID="{A2505DEA-14E2-DD48-A8FE-0952964C2A3F}" presName="hierRoot2" presStyleCnt="0">
        <dgm:presLayoutVars>
          <dgm:hierBranch val="init"/>
        </dgm:presLayoutVars>
      </dgm:prSet>
      <dgm:spPr/>
    </dgm:pt>
    <dgm:pt modelId="{89399611-3C91-AC40-BD76-8A7C8FBB95D5}" type="pres">
      <dgm:prSet presAssocID="{A2505DEA-14E2-DD48-A8FE-0952964C2A3F}" presName="rootComposite" presStyleCnt="0"/>
      <dgm:spPr/>
    </dgm:pt>
    <dgm:pt modelId="{91404103-EB04-9F4A-A0A9-ACF7D6FCA428}" type="pres">
      <dgm:prSet presAssocID="{A2505DEA-14E2-DD48-A8FE-0952964C2A3F}" presName="rootText" presStyleLbl="node2" presStyleIdx="1" presStyleCnt="3">
        <dgm:presLayoutVars>
          <dgm:chPref val="3"/>
        </dgm:presLayoutVars>
      </dgm:prSet>
      <dgm:spPr/>
    </dgm:pt>
    <dgm:pt modelId="{AEFECC66-7327-6343-A4C1-D08EE9512164}" type="pres">
      <dgm:prSet presAssocID="{A2505DEA-14E2-DD48-A8FE-0952964C2A3F}" presName="rootConnector" presStyleLbl="node2" presStyleIdx="1" presStyleCnt="3"/>
      <dgm:spPr/>
    </dgm:pt>
    <dgm:pt modelId="{1F93FD4E-B495-3543-A8C6-347893E08CB9}" type="pres">
      <dgm:prSet presAssocID="{A2505DEA-14E2-DD48-A8FE-0952964C2A3F}" presName="hierChild4" presStyleCnt="0"/>
      <dgm:spPr/>
    </dgm:pt>
    <dgm:pt modelId="{64F7CD3A-1C0E-C040-BF82-5B1BB531F3C2}" type="pres">
      <dgm:prSet presAssocID="{A2505DEA-14E2-DD48-A8FE-0952964C2A3F}" presName="hierChild5" presStyleCnt="0"/>
      <dgm:spPr/>
    </dgm:pt>
    <dgm:pt modelId="{3F5CFEE8-DCB7-E141-BBCD-D826969B7500}" type="pres">
      <dgm:prSet presAssocID="{BA0C135E-FF7B-2347-9A1D-1B11B28D098D}" presName="Name37" presStyleLbl="parChTrans1D2" presStyleIdx="2" presStyleCnt="3"/>
      <dgm:spPr/>
    </dgm:pt>
    <dgm:pt modelId="{8D6918F8-7054-634F-8963-055839AF660F}" type="pres">
      <dgm:prSet presAssocID="{7D4A5C36-8346-FB4F-950B-6A916E32FE58}" presName="hierRoot2" presStyleCnt="0">
        <dgm:presLayoutVars>
          <dgm:hierBranch val="init"/>
        </dgm:presLayoutVars>
      </dgm:prSet>
      <dgm:spPr/>
    </dgm:pt>
    <dgm:pt modelId="{4EBC6F3C-8295-0244-A496-F9D5190C9304}" type="pres">
      <dgm:prSet presAssocID="{7D4A5C36-8346-FB4F-950B-6A916E32FE58}" presName="rootComposite" presStyleCnt="0"/>
      <dgm:spPr/>
    </dgm:pt>
    <dgm:pt modelId="{09BD8970-BE06-2344-85F6-49B84E23A979}" type="pres">
      <dgm:prSet presAssocID="{7D4A5C36-8346-FB4F-950B-6A916E32FE58}" presName="rootText" presStyleLbl="node2" presStyleIdx="2" presStyleCnt="3">
        <dgm:presLayoutVars>
          <dgm:chPref val="3"/>
        </dgm:presLayoutVars>
      </dgm:prSet>
      <dgm:spPr/>
    </dgm:pt>
    <dgm:pt modelId="{50041286-1532-AA4D-9C0F-52073B87D659}" type="pres">
      <dgm:prSet presAssocID="{7D4A5C36-8346-FB4F-950B-6A916E32FE58}" presName="rootConnector" presStyleLbl="node2" presStyleIdx="2" presStyleCnt="3"/>
      <dgm:spPr/>
    </dgm:pt>
    <dgm:pt modelId="{26C577C5-411D-F347-BE4F-F73948ED40CB}" type="pres">
      <dgm:prSet presAssocID="{7D4A5C36-8346-FB4F-950B-6A916E32FE58}" presName="hierChild4" presStyleCnt="0"/>
      <dgm:spPr/>
    </dgm:pt>
    <dgm:pt modelId="{2106331D-E67D-CB42-8AE9-2AAC229BF3E9}" type="pres">
      <dgm:prSet presAssocID="{7D4A5C36-8346-FB4F-950B-6A916E32FE58}" presName="hierChild5" presStyleCnt="0"/>
      <dgm:spPr/>
    </dgm:pt>
    <dgm:pt modelId="{D33B5E81-7910-A542-A883-33A53C89F63E}" type="pres">
      <dgm:prSet presAssocID="{1371DAD1-7DEF-BA4B-820C-12141285C3B5}" presName="hierChild3" presStyleCnt="0"/>
      <dgm:spPr/>
    </dgm:pt>
  </dgm:ptLst>
  <dgm:cxnLst>
    <dgm:cxn modelId="{F1C42311-106C-0143-8CB4-84F98929082B}" type="presOf" srcId="{5E6EA392-61FD-4247-B9E9-EE6A97426DCB}" destId="{7D8BA7DB-E2E0-C94F-A468-65E6587700CC}" srcOrd="0" destOrd="0" presId="urn:microsoft.com/office/officeart/2005/8/layout/orgChart1"/>
    <dgm:cxn modelId="{2BE29C1E-078D-5044-8B95-5597E4B782E7}" type="presOf" srcId="{BA0C135E-FF7B-2347-9A1D-1B11B28D098D}" destId="{3F5CFEE8-DCB7-E141-BBCD-D826969B7500}" srcOrd="0" destOrd="0" presId="urn:microsoft.com/office/officeart/2005/8/layout/orgChart1"/>
    <dgm:cxn modelId="{A10F6823-E78B-BE42-9EA3-D63DF3CDA391}" type="presOf" srcId="{5E6EA392-61FD-4247-B9E9-EE6A97426DCB}" destId="{2ED27CBE-F05D-2746-B2E8-9F249083FCB1}" srcOrd="1" destOrd="0" presId="urn:microsoft.com/office/officeart/2005/8/layout/orgChart1"/>
    <dgm:cxn modelId="{21F58A25-6D7E-DE4B-9B74-5BD4F4600E73}" type="presOf" srcId="{7D4A5C36-8346-FB4F-950B-6A916E32FE58}" destId="{09BD8970-BE06-2344-85F6-49B84E23A979}" srcOrd="0" destOrd="0" presId="urn:microsoft.com/office/officeart/2005/8/layout/orgChart1"/>
    <dgm:cxn modelId="{4A25D255-275B-AA49-B0F5-BE20799E6F8E}" type="presOf" srcId="{58E406C9-792A-3F48-BD86-9D9A19A2F911}" destId="{65236805-C6F9-8F4D-A1DE-31EA4DACF33A}" srcOrd="0" destOrd="0" presId="urn:microsoft.com/office/officeart/2005/8/layout/orgChart1"/>
    <dgm:cxn modelId="{0C6D275B-B600-8F4F-8071-74398DE4611F}" type="presOf" srcId="{7D4A5C36-8346-FB4F-950B-6A916E32FE58}" destId="{50041286-1532-AA4D-9C0F-52073B87D659}" srcOrd="1" destOrd="0" presId="urn:microsoft.com/office/officeart/2005/8/layout/orgChart1"/>
    <dgm:cxn modelId="{AA66DA63-8185-D340-BC67-2976C99770F7}" type="presOf" srcId="{A2505DEA-14E2-DD48-A8FE-0952964C2A3F}" destId="{AEFECC66-7327-6343-A4C1-D08EE9512164}" srcOrd="1" destOrd="0" presId="urn:microsoft.com/office/officeart/2005/8/layout/orgChart1"/>
    <dgm:cxn modelId="{B7D9D77F-C0A8-0C4C-A5D6-12F484D79222}" type="presOf" srcId="{175F7B43-7C9F-C54E-8040-A2D7194DBDFA}" destId="{B6941EDC-CD39-E84D-8FF7-83C0443B6B71}" srcOrd="0" destOrd="0" presId="urn:microsoft.com/office/officeart/2005/8/layout/orgChart1"/>
    <dgm:cxn modelId="{592B7690-B062-624C-A6A3-BFBBEB79407B}" type="presOf" srcId="{A2505DEA-14E2-DD48-A8FE-0952964C2A3F}" destId="{91404103-EB04-9F4A-A0A9-ACF7D6FCA428}" srcOrd="0" destOrd="0" presId="urn:microsoft.com/office/officeart/2005/8/layout/orgChart1"/>
    <dgm:cxn modelId="{80230096-8C4F-374D-AF01-37B4F988339F}" srcId="{1371DAD1-7DEF-BA4B-820C-12141285C3B5}" destId="{A2505DEA-14E2-DD48-A8FE-0952964C2A3F}" srcOrd="1" destOrd="0" parTransId="{58E406C9-792A-3F48-BD86-9D9A19A2F911}" sibTransId="{8EC90B90-ED3D-8C41-ACCD-15F8DA5FC704}"/>
    <dgm:cxn modelId="{92ED4EAA-F2CA-A248-886B-812096EC450D}" srcId="{1371DAD1-7DEF-BA4B-820C-12141285C3B5}" destId="{7D4A5C36-8346-FB4F-950B-6A916E32FE58}" srcOrd="2" destOrd="0" parTransId="{BA0C135E-FF7B-2347-9A1D-1B11B28D098D}" sibTransId="{BDEEC751-3B25-BC4E-B0EF-585B1317FFBB}"/>
    <dgm:cxn modelId="{070D89BA-0A9C-CA4B-AACF-5A01580E55BD}" type="presOf" srcId="{3696A250-DCA8-5A42-AFFB-5BD9D0F622BB}" destId="{BA9EA402-B952-8C4F-9A39-CECEFF2A6BCA}" srcOrd="0" destOrd="0" presId="urn:microsoft.com/office/officeart/2005/8/layout/orgChart1"/>
    <dgm:cxn modelId="{819141E4-E9EF-2D43-A48D-0B2803B5D349}" type="presOf" srcId="{1371DAD1-7DEF-BA4B-820C-12141285C3B5}" destId="{93FB25F7-F37E-AC41-8966-9C207F6C1407}" srcOrd="1" destOrd="0" presId="urn:microsoft.com/office/officeart/2005/8/layout/orgChart1"/>
    <dgm:cxn modelId="{F1A73CE5-CA47-9744-9586-A204241799DF}" srcId="{1371DAD1-7DEF-BA4B-820C-12141285C3B5}" destId="{5E6EA392-61FD-4247-B9E9-EE6A97426DCB}" srcOrd="0" destOrd="0" parTransId="{3696A250-DCA8-5A42-AFFB-5BD9D0F622BB}" sibTransId="{1C85E873-95DC-E64E-B933-09E08E1063C2}"/>
    <dgm:cxn modelId="{B0430AE6-2F95-E94A-A97E-A53397F14CB0}" srcId="{175F7B43-7C9F-C54E-8040-A2D7194DBDFA}" destId="{1371DAD1-7DEF-BA4B-820C-12141285C3B5}" srcOrd="0" destOrd="0" parTransId="{495D0D99-D3E8-B249-9277-343BADCD6787}" sibTransId="{FEBEC229-92A5-5540-8510-2D0240144799}"/>
    <dgm:cxn modelId="{6B378DED-89E7-684A-8DE2-81620CE0254A}" type="presOf" srcId="{1371DAD1-7DEF-BA4B-820C-12141285C3B5}" destId="{B073C2B9-08A8-0949-B1B4-324284E7C39B}" srcOrd="0" destOrd="0" presId="urn:microsoft.com/office/officeart/2005/8/layout/orgChart1"/>
    <dgm:cxn modelId="{CE20CA4A-2FEC-A548-9C7F-28484610265B}" type="presParOf" srcId="{B6941EDC-CD39-E84D-8FF7-83C0443B6B71}" destId="{AD3FA70A-B3D4-094C-BF1B-5DAAACA2C85F}" srcOrd="0" destOrd="0" presId="urn:microsoft.com/office/officeart/2005/8/layout/orgChart1"/>
    <dgm:cxn modelId="{B8F699D4-3531-864D-A318-0A521ACE221C}" type="presParOf" srcId="{AD3FA70A-B3D4-094C-BF1B-5DAAACA2C85F}" destId="{423B58B3-95B2-914B-BA49-94A5F7AA9977}" srcOrd="0" destOrd="0" presId="urn:microsoft.com/office/officeart/2005/8/layout/orgChart1"/>
    <dgm:cxn modelId="{939BA7E8-CCD1-494D-93B3-F22102C67464}" type="presParOf" srcId="{423B58B3-95B2-914B-BA49-94A5F7AA9977}" destId="{B073C2B9-08A8-0949-B1B4-324284E7C39B}" srcOrd="0" destOrd="0" presId="urn:microsoft.com/office/officeart/2005/8/layout/orgChart1"/>
    <dgm:cxn modelId="{DE7E185F-8BE5-9843-BBE9-7E959F54E2BF}" type="presParOf" srcId="{423B58B3-95B2-914B-BA49-94A5F7AA9977}" destId="{93FB25F7-F37E-AC41-8966-9C207F6C1407}" srcOrd="1" destOrd="0" presId="urn:microsoft.com/office/officeart/2005/8/layout/orgChart1"/>
    <dgm:cxn modelId="{71686E6F-FC01-6A43-AE7D-F03D08BE9700}" type="presParOf" srcId="{AD3FA70A-B3D4-094C-BF1B-5DAAACA2C85F}" destId="{95217250-4C05-0F43-89BB-BF360E1522EF}" srcOrd="1" destOrd="0" presId="urn:microsoft.com/office/officeart/2005/8/layout/orgChart1"/>
    <dgm:cxn modelId="{AAE5D6A1-B718-CC44-9BDE-C45CEA3D2E49}" type="presParOf" srcId="{95217250-4C05-0F43-89BB-BF360E1522EF}" destId="{BA9EA402-B952-8C4F-9A39-CECEFF2A6BCA}" srcOrd="0" destOrd="0" presId="urn:microsoft.com/office/officeart/2005/8/layout/orgChart1"/>
    <dgm:cxn modelId="{70E5344B-78FF-CE44-B31C-132AE56F7BCD}" type="presParOf" srcId="{95217250-4C05-0F43-89BB-BF360E1522EF}" destId="{0DA19156-1550-594C-9573-21F68A959406}" srcOrd="1" destOrd="0" presId="urn:microsoft.com/office/officeart/2005/8/layout/orgChart1"/>
    <dgm:cxn modelId="{B2C44B61-0973-244E-9BDF-94B5ECCD1847}" type="presParOf" srcId="{0DA19156-1550-594C-9573-21F68A959406}" destId="{BC04FA6A-EB27-4B4A-BD8C-FC7E17247E91}" srcOrd="0" destOrd="0" presId="urn:microsoft.com/office/officeart/2005/8/layout/orgChart1"/>
    <dgm:cxn modelId="{A91561E3-DB90-5B47-B036-F7803206FF22}" type="presParOf" srcId="{BC04FA6A-EB27-4B4A-BD8C-FC7E17247E91}" destId="{7D8BA7DB-E2E0-C94F-A468-65E6587700CC}" srcOrd="0" destOrd="0" presId="urn:microsoft.com/office/officeart/2005/8/layout/orgChart1"/>
    <dgm:cxn modelId="{180714A0-4E87-264B-A4E1-8EB7C40A5636}" type="presParOf" srcId="{BC04FA6A-EB27-4B4A-BD8C-FC7E17247E91}" destId="{2ED27CBE-F05D-2746-B2E8-9F249083FCB1}" srcOrd="1" destOrd="0" presId="urn:microsoft.com/office/officeart/2005/8/layout/orgChart1"/>
    <dgm:cxn modelId="{731AF82C-B9D7-5845-B680-4186B9CAEBF2}" type="presParOf" srcId="{0DA19156-1550-594C-9573-21F68A959406}" destId="{B04AF684-A68C-A448-A240-1A5EEA0D5A15}" srcOrd="1" destOrd="0" presId="urn:microsoft.com/office/officeart/2005/8/layout/orgChart1"/>
    <dgm:cxn modelId="{CC7606ED-FD85-6A49-9D1A-304958A510BC}" type="presParOf" srcId="{0DA19156-1550-594C-9573-21F68A959406}" destId="{8616FDFC-97B1-4348-961D-BF838C6D1D9E}" srcOrd="2" destOrd="0" presId="urn:microsoft.com/office/officeart/2005/8/layout/orgChart1"/>
    <dgm:cxn modelId="{F8488005-3674-DC44-AA88-FCE26D6FF951}" type="presParOf" srcId="{95217250-4C05-0F43-89BB-BF360E1522EF}" destId="{65236805-C6F9-8F4D-A1DE-31EA4DACF33A}" srcOrd="2" destOrd="0" presId="urn:microsoft.com/office/officeart/2005/8/layout/orgChart1"/>
    <dgm:cxn modelId="{83061A95-DF46-F94F-9446-29897CCABE44}" type="presParOf" srcId="{95217250-4C05-0F43-89BB-BF360E1522EF}" destId="{7757F1DE-8727-AF45-AD24-170B5FB46EC8}" srcOrd="3" destOrd="0" presId="urn:microsoft.com/office/officeart/2005/8/layout/orgChart1"/>
    <dgm:cxn modelId="{21ED4DC3-5326-8D47-B2CC-C38D2A852596}" type="presParOf" srcId="{7757F1DE-8727-AF45-AD24-170B5FB46EC8}" destId="{89399611-3C91-AC40-BD76-8A7C8FBB95D5}" srcOrd="0" destOrd="0" presId="urn:microsoft.com/office/officeart/2005/8/layout/orgChart1"/>
    <dgm:cxn modelId="{C455C7D5-AF78-E548-816D-04F2C5D79822}" type="presParOf" srcId="{89399611-3C91-AC40-BD76-8A7C8FBB95D5}" destId="{91404103-EB04-9F4A-A0A9-ACF7D6FCA428}" srcOrd="0" destOrd="0" presId="urn:microsoft.com/office/officeart/2005/8/layout/orgChart1"/>
    <dgm:cxn modelId="{AE516CDA-8F6E-CE4A-BB19-193E6EA58DDB}" type="presParOf" srcId="{89399611-3C91-AC40-BD76-8A7C8FBB95D5}" destId="{AEFECC66-7327-6343-A4C1-D08EE9512164}" srcOrd="1" destOrd="0" presId="urn:microsoft.com/office/officeart/2005/8/layout/orgChart1"/>
    <dgm:cxn modelId="{438CA6B2-02E2-B046-B9CE-05B8BFB6F07A}" type="presParOf" srcId="{7757F1DE-8727-AF45-AD24-170B5FB46EC8}" destId="{1F93FD4E-B495-3543-A8C6-347893E08CB9}" srcOrd="1" destOrd="0" presId="urn:microsoft.com/office/officeart/2005/8/layout/orgChart1"/>
    <dgm:cxn modelId="{C3A4C644-8688-1D4A-BBDD-A7E3D0F0E019}" type="presParOf" srcId="{7757F1DE-8727-AF45-AD24-170B5FB46EC8}" destId="{64F7CD3A-1C0E-C040-BF82-5B1BB531F3C2}" srcOrd="2" destOrd="0" presId="urn:microsoft.com/office/officeart/2005/8/layout/orgChart1"/>
    <dgm:cxn modelId="{6C4C5CD0-A8F4-3E47-868D-7B2C92412425}" type="presParOf" srcId="{95217250-4C05-0F43-89BB-BF360E1522EF}" destId="{3F5CFEE8-DCB7-E141-BBCD-D826969B7500}" srcOrd="4" destOrd="0" presId="urn:microsoft.com/office/officeart/2005/8/layout/orgChart1"/>
    <dgm:cxn modelId="{B6E2AFAE-BF82-A94E-885E-DF714A6234EF}" type="presParOf" srcId="{95217250-4C05-0F43-89BB-BF360E1522EF}" destId="{8D6918F8-7054-634F-8963-055839AF660F}" srcOrd="5" destOrd="0" presId="urn:microsoft.com/office/officeart/2005/8/layout/orgChart1"/>
    <dgm:cxn modelId="{9B0E5F39-7576-5D4C-8E95-006A6F2780E7}" type="presParOf" srcId="{8D6918F8-7054-634F-8963-055839AF660F}" destId="{4EBC6F3C-8295-0244-A496-F9D5190C9304}" srcOrd="0" destOrd="0" presId="urn:microsoft.com/office/officeart/2005/8/layout/orgChart1"/>
    <dgm:cxn modelId="{8FA893AC-1B91-104B-91DA-F4501E45350C}" type="presParOf" srcId="{4EBC6F3C-8295-0244-A496-F9D5190C9304}" destId="{09BD8970-BE06-2344-85F6-49B84E23A979}" srcOrd="0" destOrd="0" presId="urn:microsoft.com/office/officeart/2005/8/layout/orgChart1"/>
    <dgm:cxn modelId="{5C542BB9-CDA2-0840-9AB6-2887FCE86C99}" type="presParOf" srcId="{4EBC6F3C-8295-0244-A496-F9D5190C9304}" destId="{50041286-1532-AA4D-9C0F-52073B87D659}" srcOrd="1" destOrd="0" presId="urn:microsoft.com/office/officeart/2005/8/layout/orgChart1"/>
    <dgm:cxn modelId="{893EAAFF-AA9A-394F-9145-1569C27DF315}" type="presParOf" srcId="{8D6918F8-7054-634F-8963-055839AF660F}" destId="{26C577C5-411D-F347-BE4F-F73948ED40CB}" srcOrd="1" destOrd="0" presId="urn:microsoft.com/office/officeart/2005/8/layout/orgChart1"/>
    <dgm:cxn modelId="{6F2E4490-EB94-9942-9CA6-CA25AFE8F7C9}" type="presParOf" srcId="{8D6918F8-7054-634F-8963-055839AF660F}" destId="{2106331D-E67D-CB42-8AE9-2AAC229BF3E9}" srcOrd="2" destOrd="0" presId="urn:microsoft.com/office/officeart/2005/8/layout/orgChart1"/>
    <dgm:cxn modelId="{18E8D91A-8A9A-3A40-8A87-542EDC6496F3}" type="presParOf" srcId="{AD3FA70A-B3D4-094C-BF1B-5DAAACA2C85F}" destId="{D33B5E81-7910-A542-A883-33A53C89F63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5CFEE8-DCB7-E141-BBCD-D826969B7500}">
      <dsp:nvSpPr>
        <dsp:cNvPr id="0" name=""/>
        <dsp:cNvSpPr/>
      </dsp:nvSpPr>
      <dsp:spPr>
        <a:xfrm>
          <a:off x="4037771" y="1068459"/>
          <a:ext cx="2717641" cy="4487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4352"/>
              </a:lnTo>
              <a:lnTo>
                <a:pt x="2717641" y="224352"/>
              </a:lnTo>
              <a:lnTo>
                <a:pt x="2717641" y="44870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236805-C6F9-8F4D-A1DE-31EA4DACF33A}">
      <dsp:nvSpPr>
        <dsp:cNvPr id="0" name=""/>
        <dsp:cNvSpPr/>
      </dsp:nvSpPr>
      <dsp:spPr>
        <a:xfrm>
          <a:off x="4037771" y="1068459"/>
          <a:ext cx="132250" cy="4487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4352"/>
              </a:lnTo>
              <a:lnTo>
                <a:pt x="132250" y="224352"/>
              </a:lnTo>
              <a:lnTo>
                <a:pt x="132250" y="44870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9EA402-B952-8C4F-9A39-CECEFF2A6BCA}">
      <dsp:nvSpPr>
        <dsp:cNvPr id="0" name=""/>
        <dsp:cNvSpPr/>
      </dsp:nvSpPr>
      <dsp:spPr>
        <a:xfrm>
          <a:off x="1452380" y="1068459"/>
          <a:ext cx="2585391" cy="448704"/>
        </a:xfrm>
        <a:custGeom>
          <a:avLst/>
          <a:gdLst/>
          <a:ahLst/>
          <a:cxnLst/>
          <a:rect l="0" t="0" r="0" b="0"/>
          <a:pathLst>
            <a:path>
              <a:moveTo>
                <a:pt x="2585391" y="0"/>
              </a:moveTo>
              <a:lnTo>
                <a:pt x="2585391" y="224352"/>
              </a:lnTo>
              <a:lnTo>
                <a:pt x="0" y="224352"/>
              </a:lnTo>
              <a:lnTo>
                <a:pt x="0" y="44870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73C2B9-08A8-0949-B1B4-324284E7C39B}">
      <dsp:nvSpPr>
        <dsp:cNvPr id="0" name=""/>
        <dsp:cNvSpPr/>
      </dsp:nvSpPr>
      <dsp:spPr>
        <a:xfrm>
          <a:off x="2969428" y="115"/>
          <a:ext cx="2136686" cy="10683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Product</a:t>
          </a:r>
        </a:p>
      </dsp:txBody>
      <dsp:txXfrm>
        <a:off x="2969428" y="115"/>
        <a:ext cx="2136686" cy="1068343"/>
      </dsp:txXfrm>
    </dsp:sp>
    <dsp:sp modelId="{7D8BA7DB-E2E0-C94F-A468-65E6587700CC}">
      <dsp:nvSpPr>
        <dsp:cNvPr id="0" name=""/>
        <dsp:cNvSpPr/>
      </dsp:nvSpPr>
      <dsp:spPr>
        <a:xfrm>
          <a:off x="251786" y="1517163"/>
          <a:ext cx="2401187" cy="10683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Hadamard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(Element wise)</a:t>
          </a:r>
        </a:p>
      </dsp:txBody>
      <dsp:txXfrm>
        <a:off x="251786" y="1517163"/>
        <a:ext cx="2401187" cy="1068343"/>
      </dsp:txXfrm>
    </dsp:sp>
    <dsp:sp modelId="{91404103-EB04-9F4A-A0A9-ACF7D6FCA428}">
      <dsp:nvSpPr>
        <dsp:cNvPr id="0" name=""/>
        <dsp:cNvSpPr/>
      </dsp:nvSpPr>
      <dsp:spPr>
        <a:xfrm>
          <a:off x="3101678" y="1517163"/>
          <a:ext cx="2136686" cy="10683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Dot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(Matrix Multiplication)</a:t>
          </a:r>
        </a:p>
      </dsp:txBody>
      <dsp:txXfrm>
        <a:off x="3101678" y="1517163"/>
        <a:ext cx="2136686" cy="1068343"/>
      </dsp:txXfrm>
    </dsp:sp>
    <dsp:sp modelId="{09BD8970-BE06-2344-85F6-49B84E23A979}">
      <dsp:nvSpPr>
        <dsp:cNvPr id="0" name=""/>
        <dsp:cNvSpPr/>
      </dsp:nvSpPr>
      <dsp:spPr>
        <a:xfrm>
          <a:off x="5687069" y="1517163"/>
          <a:ext cx="2136686" cy="10683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Cross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(Vector Product)</a:t>
          </a:r>
        </a:p>
      </dsp:txBody>
      <dsp:txXfrm>
        <a:off x="5687069" y="1517163"/>
        <a:ext cx="2136686" cy="10683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25T10:17:46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24575,'0'4'0,"0"11"0,0-2 0,0 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2714BE-B2B6-2B46-B80E-778C0176B3A1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357F68-965C-A94C-8990-08B549209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488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Cast the list as </a:t>
            </a:r>
            <a:r>
              <a:rPr lang="en-US" dirty="0" err="1"/>
              <a:t>numpy</a:t>
            </a:r>
            <a:r>
              <a:rPr lang="en-US" dirty="0"/>
              <a:t> array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57F68-965C-A94C-8990-08B54920992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5127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1262E-677A-2BB8-17C3-FBE298081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6238D6-1C15-B3B5-721C-3955103EFB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CA6263-C146-9500-B393-CD5BC8CBED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Cast the list as </a:t>
            </a:r>
            <a:r>
              <a:rPr lang="en-US" dirty="0" err="1"/>
              <a:t>numpy</a:t>
            </a:r>
            <a:r>
              <a:rPr lang="en-US" dirty="0"/>
              <a:t> array</a:t>
            </a:r>
          </a:p>
          <a:p>
            <a:r>
              <a:rPr lang="en-US" dirty="0"/>
              <a:t>Sets </a:t>
            </a:r>
            <a:r>
              <a:rPr lang="en-US" dirty="0" err="1"/>
              <a:t>donot</a:t>
            </a:r>
            <a:r>
              <a:rPr lang="en-US" dirty="0"/>
              <a:t> maintain an order so not preferred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3CEBF6-D489-D355-3044-1B0C51AC3E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57F68-965C-A94C-8990-08B54920992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299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8EB26-5154-3719-4399-5BD18A685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D1BC07-8EDC-9D31-4259-358E03956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1827A-A9C1-8A98-DE39-F9D7822E2C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Cast the list as </a:t>
            </a:r>
            <a:r>
              <a:rPr lang="en-US" dirty="0" err="1"/>
              <a:t>numpy</a:t>
            </a:r>
            <a:r>
              <a:rPr lang="en-US" dirty="0"/>
              <a:t> array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BF9F0-C009-CF56-AB6B-299BB0E3FE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57F68-965C-A94C-8990-08B54920992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671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Vectors in Data Science tell the properties of a data point in different dimensions. Different components of a data point forms a vector each component is related to one dimension.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57F68-965C-A94C-8990-08B54920992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4754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b="1" dirty="0"/>
              <a:t>Machine Learning and Data Science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Vectorized operations speed up mathematical computations, such as matrix multiplication or applying functions to datasets.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Simulations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NumPy’s speed advantage is critical when running computational simulations with large datasets.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Image Processing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Operations on pixel matrices (e.g., filtering, resizing) benefit greatly from NumPy’s efficiency.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57F68-965C-A94C-8990-08B54920992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953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57F68-965C-A94C-8990-08B54920992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2366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Let's review some of these operations on one-dimensional arrays.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We will look at many of the operations in the context of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Euclidian vectors to make things more interesting. </a:t>
            </a:r>
          </a:p>
          <a:p>
            <a:endParaRPr lang="en-US" dirty="0"/>
          </a:p>
          <a:p>
            <a:endParaRPr lang="en-US" dirty="0"/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Vector addition is a widely used operation in data science. Consider the vector u with two elements, the elements are distinguished by the different colors.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Similarly, consider the vector v with two components.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In vector addition, we create a new vector in this case z.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The first component of z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is the addition of the first component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of vectors u and v. Similarly,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the second component is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the sum of the second components of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u and v. This new vector z is now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a linear combination of the vector u and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v. Representing vector addition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with line segment or arrows is helpful.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The first vector is represented in red.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The vector will point in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the direction of the two components.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The first component of the vector is one.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As a result the arrow is offset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one unit from the origin in the horizontal direction.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The second component is zero,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we represent this component in the vertical direction.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As this component is zero,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the vector does not point in the vertical direction.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We represent the second vector in blue.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The first component is zero,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therefore the arrow does not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point to the horizontal direction.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The second component is one.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As a result the vector points in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the vertical direction one unit.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When we add the vector u and v,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we get the new vector z.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We add the first component,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this corresponds to the horizontal direction.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We also add the second component.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It's helpful to use the tip to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tail method when adding vectors,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placing the tail of the vector v on the tip of vector u.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The new vector z is constructed by connecting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the base of the first vector u with the tail of the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second v. The following three lines of code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will add the two lists and place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the result in the list z.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We can also perform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vector addition with one line of </a:t>
            </a:r>
            <a:r>
              <a:rPr lang="en-US" sz="1200" b="0" i="0" dirty="0" err="1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Numpy</a:t>
            </a: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 code.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It would require multiple lines to perform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vector addition on two lists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as shown on the right side of the screen.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In addition, the </a:t>
            </a:r>
            <a:r>
              <a:rPr lang="en-US" sz="1200" b="0" i="0" dirty="0" err="1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Numpy</a:t>
            </a: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 code will run much faster.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This is important if you have lots of data.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We can also perform vector subtraction by changing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the addition sign to a subtraction sign.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It would require multiple lines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to perform vector subtraction </a:t>
            </a:r>
          </a:p>
          <a:p>
            <a:pPr algn="l">
              <a:lnSpc>
                <a:spcPts val="1950"/>
              </a:lnSpc>
            </a:pPr>
            <a:r>
              <a:rPr lang="en-US" sz="12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on two lists as shown on the right side of the screen.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57F68-965C-A94C-8990-08B54920992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6029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57F68-965C-A94C-8990-08B54920992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3585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Matplotlib inline to display the plot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57F68-965C-A94C-8990-08B54920992D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693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B3380-A955-029D-B5EF-5B2F4635C7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020F51-F390-4DB1-7D64-FCEAE47C94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58D56-C079-D37A-E26A-46F19F365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F6D3D-47F6-4440-B613-26B8BBFF394D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BC76D-391C-1169-F69C-7D627CE53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EC02C-1B2B-0F3D-1F28-477B76862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15696-C1F8-6144-A1D0-55C6C5FBA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807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09836-EB14-DB72-5978-C38894453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FFE07-24EC-5735-5F21-4BB654637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B81FD-D16D-FCE2-4130-2CD87C491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F6D3D-47F6-4440-B613-26B8BBFF394D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FC146-981F-50EF-20C2-70F3049F7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BF6B0-B2C5-B0E9-1976-9FC496793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15696-C1F8-6144-A1D0-55C6C5FBA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3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79878-426E-0D5A-F9C2-865038268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15F3E-CB0A-140E-1C23-C1AB7D520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338E8-6D1D-AC8C-A2EB-20BFA5B71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F6D3D-47F6-4440-B613-26B8BBFF394D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0DE85-8FC3-479A-9916-AB30C4523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8588B-F47F-ED20-2BA9-A3A8DFE6A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15696-C1F8-6144-A1D0-55C6C5FBA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644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BEBCF-C54E-7206-BA9F-B373E9795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334E5-C539-390E-7929-5C4620FCA0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144AC0-BF18-C25C-D4FE-23DB4125C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39C760-D624-FB37-2F3F-C1378BAEB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F6D3D-47F6-4440-B613-26B8BBFF394D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6F5C95-3887-B436-2C5D-B0C87A071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86D75E-517E-43BB-E8F9-8F4414246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15696-C1F8-6144-A1D0-55C6C5FBA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468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A0FA7-1359-59DE-791B-70143284C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37BDE2-24F9-1E48-A618-1D6C1E76F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72E69E-B2FB-40EF-4645-59B250089B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6EC630-4008-FFC8-A923-6ABFABC178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8E69BE-B379-CE48-8822-35018323BF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AC1F86-B199-6929-34EA-432EA0574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F6D3D-47F6-4440-B613-26B8BBFF394D}" type="datetimeFigureOut">
              <a:rPr lang="en-US" smtClean="0"/>
              <a:t>9/3/26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2FCFC1-DB34-5916-D46F-B0D427AB8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EE958E-DE87-8CD6-10D3-533062307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15696-C1F8-6144-A1D0-55C6C5FBA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989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50EB8-6AC4-55D0-D35B-7A012232A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8299FC-F922-6ADC-E989-810692FA4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F6D3D-47F6-4440-B613-26B8BBFF394D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8AC0DD-445B-0787-52B4-718837DCB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F75768-7734-6E55-C354-BC300D189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15696-C1F8-6144-A1D0-55C6C5FBA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413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A01396-DC0F-AF0B-51FB-9C3563E96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F6D3D-47F6-4440-B613-26B8BBFF394D}" type="datetimeFigureOut">
              <a:rPr lang="en-US" smtClean="0"/>
              <a:t>9/3/26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1A3154-B5E3-2A0A-FF2E-04E866C98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82B82-385E-F239-BF70-AB8F5899C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15696-C1F8-6144-A1D0-55C6C5FBA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380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ED6B2-3691-49A5-BC10-507A4C61D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E94B1-9876-9454-6625-E684A79AD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F90033-4BD5-420A-4204-279480AE88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FEC9B5-BD43-42FA-481B-D61D940DE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F6D3D-47F6-4440-B613-26B8BBFF394D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85D11B-AD01-CEAB-3E52-04E0B8DB1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5FF9FB-DDC8-5E0E-A836-B46C9EB45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15696-C1F8-6144-A1D0-55C6C5FBA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945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FD62C-41E5-8764-1EF1-88ACD8AC2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104E09-B05D-91BC-6D86-C669465F2F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5144E5-130B-DC2D-1516-14C777A30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DE6D1B-D928-00B1-5B4B-FF7EA95EF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F6D3D-47F6-4440-B613-26B8BBFF394D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D7B19B-4B7E-1DBE-566C-7C99BE240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500294-FC20-6933-841B-B11872472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15696-C1F8-6144-A1D0-55C6C5FBA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219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1C8E1-1F98-6E76-4769-C66811336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5B8445-3FF4-F2C3-BE80-7AD651E4B7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28AAA-67BD-0F2F-C7F2-83C42970E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F6D3D-47F6-4440-B613-26B8BBFF394D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AF321-963D-D008-2B4D-15CBCD445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E88ED-BFBB-75D0-B88A-60113271A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15696-C1F8-6144-A1D0-55C6C5FBA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1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9DC29F-F9E9-1632-A018-0EE8BB9B95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C9DF87-E58A-1191-1D80-B9DA4F2FB0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E902F-67F3-CE3C-D5B7-358D7AABA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F6D3D-47F6-4440-B613-26B8BBFF394D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1E9FA-99C2-FCF3-3AA3-8FEE171E4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D7F13-C2A4-33FD-59F0-EA6172F75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15696-C1F8-6144-A1D0-55C6C5FBA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008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09139B-5FF8-422E-7F92-FBD1987BA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57028-D677-6F52-923D-33983596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620FF-8ED0-9FBA-3687-6BEAF59C70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F6D3D-47F6-4440-B613-26B8BBFF394D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40FAB-B1EC-C601-811A-2F15F91E49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CB42E-7DB8-5898-5E4D-0B8969811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215696-C1F8-6144-A1D0-55C6C5FBA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619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2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questions/4674473/valueerror-setting-an-array-element-with-a-sequence" TargetMode="External"/><Relationship Id="rId2" Type="http://schemas.openxmlformats.org/officeDocument/2006/relationships/hyperlink" Target="https://www.kaggle.com/code/abhayparashar31/best-numpy-functions-for-data-science-50#Replacing-Values-Inside-Array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DE20B-602C-5DE5-064C-6BE278E4B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42852"/>
            <a:ext cx="9144000" cy="2387600"/>
          </a:xfrm>
        </p:spPr>
        <p:txBody>
          <a:bodyPr/>
          <a:lstStyle/>
          <a:p>
            <a:r>
              <a:rPr lang="en-US" b="1" dirty="0"/>
              <a:t>NumPy – Numerical Python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499553-C983-06E5-4FF2-6EF4FD006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9142" y="695947"/>
            <a:ext cx="2093715" cy="22407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71D8A8-A1CB-1C25-6776-815A04F121EC}"/>
              </a:ext>
            </a:extLst>
          </p:cNvPr>
          <p:cNvSpPr txBox="1"/>
          <p:nvPr/>
        </p:nvSpPr>
        <p:spPr>
          <a:xfrm>
            <a:off x="-663388" y="65980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382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D07C4-AC00-EC3F-12C6-6C6BD7E48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A0B9E-F66B-D8E0-EAAB-6705E7D26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400" b="1" dirty="0">
                <a:solidFill>
                  <a:srgbClr val="22283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rPr>
              <a:t>Fundamental package and library for scientific computing in Python</a:t>
            </a:r>
          </a:p>
          <a:p>
            <a:pPr algn="l">
              <a:lnSpc>
                <a:spcPct val="100000"/>
              </a:lnSpc>
            </a:pPr>
            <a:r>
              <a:rPr lang="en-US" sz="2400" b="1" dirty="0">
                <a:solidFill>
                  <a:srgbClr val="0F1114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rPr>
              <a:t>Acts as basis for Pandas</a:t>
            </a:r>
          </a:p>
          <a:p>
            <a:pPr algn="l">
              <a:lnSpc>
                <a:spcPct val="100000"/>
              </a:lnSpc>
            </a:pPr>
            <a:r>
              <a:rPr lang="en-US" sz="2400" b="1" dirty="0">
                <a:solidFill>
                  <a:srgbClr val="22283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rPr>
              <a:t>NumPy provides </a:t>
            </a:r>
          </a:p>
          <a:p>
            <a:pPr lvl="1" algn="just">
              <a:lnSpc>
                <a:spcPct val="100000"/>
              </a:lnSpc>
              <a:spcAft>
                <a:spcPts val="1200"/>
              </a:spcAft>
            </a:pPr>
            <a:r>
              <a:rPr lang="en-US" b="1" i="1" dirty="0">
                <a:solidFill>
                  <a:srgbClr val="22283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rPr>
              <a:t>Multidimensional Array Object</a:t>
            </a:r>
          </a:p>
          <a:p>
            <a:pPr lvl="1" algn="just">
              <a:lnSpc>
                <a:spcPct val="100000"/>
              </a:lnSpc>
              <a:spcAft>
                <a:spcPts val="1200"/>
              </a:spcAft>
            </a:pPr>
            <a:r>
              <a:rPr lang="en-US" b="1" i="1" dirty="0">
                <a:solidFill>
                  <a:srgbClr val="22283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rPr>
              <a:t>Derived Objects (such as masked </a:t>
            </a:r>
            <a:r>
              <a:rPr lang="en-US" b="1" i="1" dirty="0">
                <a:solidFill>
                  <a:srgbClr val="C00000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rPr>
              <a:t>arrays and matrices</a:t>
            </a:r>
            <a:r>
              <a:rPr lang="en-US" b="1" i="1" dirty="0">
                <a:solidFill>
                  <a:srgbClr val="22283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rPr>
              <a:t>)</a:t>
            </a:r>
          </a:p>
          <a:p>
            <a:pPr lvl="1" algn="just">
              <a:lnSpc>
                <a:spcPct val="100000"/>
              </a:lnSpc>
              <a:spcAft>
                <a:spcPts val="1200"/>
              </a:spcAft>
            </a:pPr>
            <a:r>
              <a:rPr lang="en-US" b="1" i="1" dirty="0">
                <a:solidFill>
                  <a:srgbClr val="22283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rPr>
              <a:t>Routines for fast operations on arrays, including mathematical, logical, shape manipulation, sorting, selecting, I/O, discrete Fourier transforms, basic linear algebra, basic statistical operations, random simulation and much more.</a:t>
            </a:r>
            <a:endParaRPr lang="en-US" b="1" i="1" dirty="0">
              <a:solidFill>
                <a:srgbClr val="0F1114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3232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F3F84-489C-EB38-8313-37568266D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Arrays 	         	vs		 Matrices</a:t>
            </a:r>
          </a:p>
        </p:txBody>
      </p:sp>
      <p:pic>
        <p:nvPicPr>
          <p:cNvPr id="2050" name="Picture 2" descr="What is NumPy">
            <a:extLst>
              <a:ext uri="{FF2B5EF4-FFF2-40B4-BE49-F238E27FC236}">
                <a16:creationId xmlns:a16="http://schemas.microsoft.com/office/drawing/2014/main" id="{5AF33393-031E-0058-8BB8-52950F9C35F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603" y="1849155"/>
            <a:ext cx="4969368" cy="2775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Matrix Data Structure - GeeksforGeeks">
            <a:extLst>
              <a:ext uri="{FF2B5EF4-FFF2-40B4-BE49-F238E27FC236}">
                <a16:creationId xmlns:a16="http://schemas.microsoft.com/office/drawing/2014/main" id="{41D35B09-C417-14AF-051A-7C1E0D95CF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53" t="26446" r="4375" b="25117"/>
          <a:stretch/>
        </p:blipFill>
        <p:spPr bwMode="auto">
          <a:xfrm>
            <a:off x="6247740" y="1976581"/>
            <a:ext cx="5375171" cy="2396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3AAA47-1418-93E5-1619-3C9EB94F20FF}"/>
              </a:ext>
            </a:extLst>
          </p:cNvPr>
          <p:cNvSpPr txBox="1"/>
          <p:nvPr/>
        </p:nvSpPr>
        <p:spPr>
          <a:xfrm>
            <a:off x="947056" y="5029200"/>
            <a:ext cx="4767943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Can be n-dimensional (1-D,2-D, 3-D,…n-D)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Designed for data storage and computation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1E635F-4A38-2E2C-9DFC-A5E8D14EF4B1}"/>
              </a:ext>
            </a:extLst>
          </p:cNvPr>
          <p:cNvSpPr txBox="1"/>
          <p:nvPr/>
        </p:nvSpPr>
        <p:spPr>
          <a:xfrm>
            <a:off x="6247740" y="4833257"/>
            <a:ext cx="581125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Always 2-D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Specifically designed for linear algebra and its operations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Deprecated in new versions of </a:t>
            </a:r>
            <a:r>
              <a:rPr lang="en-US" sz="2000" b="1" dirty="0" err="1">
                <a:latin typeface="Arial Narrow" panose="020B0604020202020204" pitchFamily="34" charset="0"/>
                <a:cs typeface="Arial Narrow" panose="020B0604020202020204" pitchFamily="34" charset="0"/>
              </a:rPr>
              <a:t>Numpy</a:t>
            </a:r>
            <a:r>
              <a:rPr lang="en-US" sz="20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 (use Array instead)</a:t>
            </a:r>
          </a:p>
        </p:txBody>
      </p:sp>
    </p:spTree>
    <p:extLst>
      <p:ext uri="{BB962C8B-B14F-4D97-AF65-F5344CB8AC3E}">
        <p14:creationId xmlns:p14="http://schemas.microsoft.com/office/powerpoint/2010/main" val="1922806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FBFBE-44B0-638C-3BE5-18B971D9E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Numpy</a:t>
            </a:r>
            <a:r>
              <a:rPr lang="en-US" b="1" dirty="0"/>
              <a:t> Array (ND Array)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239F59-21B4-3A9C-2A2B-A29FE80225AD}"/>
              </a:ext>
            </a:extLst>
          </p:cNvPr>
          <p:cNvSpPr txBox="1"/>
          <p:nvPr/>
        </p:nvSpPr>
        <p:spPr>
          <a:xfrm>
            <a:off x="2753927" y="1690688"/>
            <a:ext cx="24710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A </a:t>
            </a:r>
            <a:r>
              <a:rPr lang="en-US" sz="2800" b="1">
                <a:latin typeface="Arial Narrow" panose="020B0604020202020204" pitchFamily="34" charset="0"/>
                <a:cs typeface="Arial Narrow" panose="020B0604020202020204" pitchFamily="34" charset="0"/>
              </a:rPr>
              <a:t>= [0 </a:t>
            </a:r>
            <a:r>
              <a:rPr lang="en-US" sz="28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,1 </a:t>
            </a:r>
            <a:r>
              <a:rPr lang="en-US" sz="2800" b="1">
                <a:latin typeface="Arial Narrow" panose="020B0604020202020204" pitchFamily="34" charset="0"/>
                <a:cs typeface="Arial Narrow" panose="020B0604020202020204" pitchFamily="34" charset="0"/>
              </a:rPr>
              <a:t>, 2, 3, </a:t>
            </a:r>
            <a:r>
              <a:rPr lang="en-US" sz="28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4]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8E2A59-A8F4-5129-8B3A-CE2A879EBC84}"/>
              </a:ext>
            </a:extLst>
          </p:cNvPr>
          <p:cNvSpPr txBox="1"/>
          <p:nvPr/>
        </p:nvSpPr>
        <p:spPr>
          <a:xfrm>
            <a:off x="8937169" y="1690688"/>
            <a:ext cx="17860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Python List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FC1C914-F21F-9477-5A56-D92B74168783}"/>
              </a:ext>
            </a:extLst>
          </p:cNvPr>
          <p:cNvCxnSpPr>
            <a:stCxn id="7" idx="1"/>
            <a:endCxn id="6" idx="3"/>
          </p:cNvCxnSpPr>
          <p:nvPr/>
        </p:nvCxnSpPr>
        <p:spPr>
          <a:xfrm flipH="1">
            <a:off x="5224988" y="1952298"/>
            <a:ext cx="371218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D353F22-5BC7-7605-24A0-A243605BB6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775787"/>
              </p:ext>
            </p:extLst>
          </p:nvPr>
        </p:nvGraphicFramePr>
        <p:xfrm>
          <a:off x="2753927" y="2431473"/>
          <a:ext cx="481527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3054">
                  <a:extLst>
                    <a:ext uri="{9D8B030D-6E8A-4147-A177-3AD203B41FA5}">
                      <a16:colId xmlns:a16="http://schemas.microsoft.com/office/drawing/2014/main" val="1993350263"/>
                    </a:ext>
                  </a:extLst>
                </a:gridCol>
                <a:gridCol w="963054">
                  <a:extLst>
                    <a:ext uri="{9D8B030D-6E8A-4147-A177-3AD203B41FA5}">
                      <a16:colId xmlns:a16="http://schemas.microsoft.com/office/drawing/2014/main" val="1893309147"/>
                    </a:ext>
                  </a:extLst>
                </a:gridCol>
                <a:gridCol w="963054">
                  <a:extLst>
                    <a:ext uri="{9D8B030D-6E8A-4147-A177-3AD203B41FA5}">
                      <a16:colId xmlns:a16="http://schemas.microsoft.com/office/drawing/2014/main" val="611687811"/>
                    </a:ext>
                  </a:extLst>
                </a:gridCol>
                <a:gridCol w="963054">
                  <a:extLst>
                    <a:ext uri="{9D8B030D-6E8A-4147-A177-3AD203B41FA5}">
                      <a16:colId xmlns:a16="http://schemas.microsoft.com/office/drawing/2014/main" val="2510695917"/>
                    </a:ext>
                  </a:extLst>
                </a:gridCol>
                <a:gridCol w="963054">
                  <a:extLst>
                    <a:ext uri="{9D8B030D-6E8A-4147-A177-3AD203B41FA5}">
                      <a16:colId xmlns:a16="http://schemas.microsoft.com/office/drawing/2014/main" val="1718613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695899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AD1D4A7F-2E4B-CC6B-F54F-3210BBE2A2C9}"/>
              </a:ext>
            </a:extLst>
          </p:cNvPr>
          <p:cNvSpPr txBox="1"/>
          <p:nvPr/>
        </p:nvSpPr>
        <p:spPr>
          <a:xfrm>
            <a:off x="1690819" y="3108039"/>
            <a:ext cx="10999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A[0] :0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9F1A18-3997-9E88-EC53-E172F1E14FB4}"/>
              </a:ext>
            </a:extLst>
          </p:cNvPr>
          <p:cNvSpPr txBox="1"/>
          <p:nvPr/>
        </p:nvSpPr>
        <p:spPr>
          <a:xfrm>
            <a:off x="3443419" y="3108038"/>
            <a:ext cx="11817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A[1] : 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5778DD-6A71-61D4-FC8A-3DC7DF9B86CD}"/>
              </a:ext>
            </a:extLst>
          </p:cNvPr>
          <p:cNvSpPr txBox="1"/>
          <p:nvPr/>
        </p:nvSpPr>
        <p:spPr>
          <a:xfrm>
            <a:off x="5008525" y="3108037"/>
            <a:ext cx="11817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A[2] : 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DF4364-E2B7-0EE5-EF06-B9ADB892C22A}"/>
              </a:ext>
            </a:extLst>
          </p:cNvPr>
          <p:cNvSpPr txBox="1"/>
          <p:nvPr/>
        </p:nvSpPr>
        <p:spPr>
          <a:xfrm>
            <a:off x="262889" y="4366984"/>
            <a:ext cx="662557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C0000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A </a:t>
            </a:r>
            <a:r>
              <a:rPr lang="en-US" sz="2800" b="1" dirty="0" err="1">
                <a:solidFill>
                  <a:srgbClr val="C0000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Numpy</a:t>
            </a:r>
            <a:r>
              <a:rPr lang="en-US" sz="2800" b="1" dirty="0">
                <a:solidFill>
                  <a:srgbClr val="C0000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 array or ND array is similar to a list.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C0000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It's usually fixed in size and each element is of the same type (here, integers) 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0B34D0-9E51-80DB-436F-BF7C6F154CD6}"/>
              </a:ext>
            </a:extLst>
          </p:cNvPr>
          <p:cNvSpPr txBox="1"/>
          <p:nvPr/>
        </p:nvSpPr>
        <p:spPr>
          <a:xfrm>
            <a:off x="7460483" y="3108036"/>
            <a:ext cx="11817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A[3] : 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10CB18-03B9-1B23-AED8-74C403DD4224}"/>
              </a:ext>
            </a:extLst>
          </p:cNvPr>
          <p:cNvSpPr txBox="1"/>
          <p:nvPr/>
        </p:nvSpPr>
        <p:spPr>
          <a:xfrm>
            <a:off x="9448798" y="4676167"/>
            <a:ext cx="63354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[0, 1, 2, 3, 4]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D5A78E-EA15-A1F0-B8A0-45FA3912D0D3}"/>
              </a:ext>
            </a:extLst>
          </p:cNvPr>
          <p:cNvSpPr txBox="1"/>
          <p:nvPr/>
        </p:nvSpPr>
        <p:spPr>
          <a:xfrm>
            <a:off x="7725133" y="4091392"/>
            <a:ext cx="63354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import </a:t>
            </a:r>
            <a:r>
              <a:rPr lang="en-US" sz="3200" b="1" dirty="0" err="1">
                <a:solidFill>
                  <a:srgbClr val="C0000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numpy</a:t>
            </a:r>
            <a:r>
              <a:rPr lang="en-US" sz="3200" b="1" dirty="0">
                <a:solidFill>
                  <a:srgbClr val="C0000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 as np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23A5E8-314E-F90A-7084-2221F5C46F95}"/>
              </a:ext>
            </a:extLst>
          </p:cNvPr>
          <p:cNvSpPr txBox="1"/>
          <p:nvPr/>
        </p:nvSpPr>
        <p:spPr>
          <a:xfrm>
            <a:off x="7376791" y="4676167"/>
            <a:ext cx="63354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a = </a:t>
            </a:r>
            <a:r>
              <a:rPr lang="en-US" sz="3200" b="1" dirty="0" err="1">
                <a:solidFill>
                  <a:srgbClr val="C0000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np.array</a:t>
            </a:r>
            <a:r>
              <a:rPr lang="en-US" sz="3200" b="1" dirty="0">
                <a:solidFill>
                  <a:srgbClr val="C0000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(                      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DF6DB6-92F7-377C-0CA3-CCDA0C4FF891}"/>
              </a:ext>
            </a:extLst>
          </p:cNvPr>
          <p:cNvSpPr txBox="1"/>
          <p:nvPr/>
        </p:nvSpPr>
        <p:spPr>
          <a:xfrm>
            <a:off x="7376791" y="5428690"/>
            <a:ext cx="63354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&gt;&gt; type(a)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92B06B-DC22-5011-2E98-130B0A386C5A}"/>
              </a:ext>
            </a:extLst>
          </p:cNvPr>
          <p:cNvSpPr txBox="1"/>
          <p:nvPr/>
        </p:nvSpPr>
        <p:spPr>
          <a:xfrm>
            <a:off x="7376791" y="5968876"/>
            <a:ext cx="63354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&gt;&gt; </a:t>
            </a:r>
            <a:r>
              <a:rPr lang="en-US" sz="3200" b="1" dirty="0" err="1">
                <a:latin typeface="Arial Narrow" panose="020B0604020202020204" pitchFamily="34" charset="0"/>
                <a:cs typeface="Arial Narrow" panose="020B0604020202020204" pitchFamily="34" charset="0"/>
              </a:rPr>
              <a:t>numpy.ndarray</a:t>
            </a:r>
            <a:endParaRPr lang="en-US" sz="3200" b="1" dirty="0"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366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23CA9-A016-87FB-AC6A-956C9CDA7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CA250-B944-7688-C81E-E28EDEF42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ND Array - Attributes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6883037-90DC-52A2-D99A-CA6E56AB480B}"/>
              </a:ext>
            </a:extLst>
          </p:cNvPr>
          <p:cNvSpPr txBox="1"/>
          <p:nvPr/>
        </p:nvSpPr>
        <p:spPr>
          <a:xfrm>
            <a:off x="838200" y="1424857"/>
            <a:ext cx="6335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import </a:t>
            </a:r>
            <a:r>
              <a:rPr lang="en-US" sz="2400" b="1" dirty="0" err="1">
                <a:latin typeface="Arial Narrow" panose="020B0604020202020204" pitchFamily="34" charset="0"/>
                <a:cs typeface="Arial Narrow" panose="020B0604020202020204" pitchFamily="34" charset="0"/>
              </a:rPr>
              <a:t>numpy</a:t>
            </a:r>
            <a:r>
              <a:rPr lang="en-US" sz="24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 as np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7F378A-6814-ACBA-B755-6717C2FA2162}"/>
              </a:ext>
            </a:extLst>
          </p:cNvPr>
          <p:cNvSpPr txBox="1"/>
          <p:nvPr/>
        </p:nvSpPr>
        <p:spPr>
          <a:xfrm>
            <a:off x="838200" y="1912873"/>
            <a:ext cx="10248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a = </a:t>
            </a:r>
            <a:r>
              <a:rPr lang="en-US" sz="2400" b="1" dirty="0" err="1">
                <a:latin typeface="Arial Narrow" panose="020B0604020202020204" pitchFamily="34" charset="0"/>
                <a:cs typeface="Arial Narrow" panose="020B0604020202020204" pitchFamily="34" charset="0"/>
              </a:rPr>
              <a:t>np.array</a:t>
            </a:r>
            <a:r>
              <a:rPr lang="en-US" sz="24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([0,1,2,3,4])      // can be list/tuple i.e. a=</a:t>
            </a:r>
            <a:r>
              <a:rPr lang="en-US" sz="2400" b="1" dirty="0" err="1">
                <a:latin typeface="Arial Narrow" panose="020B0604020202020204" pitchFamily="34" charset="0"/>
                <a:cs typeface="Arial Narrow" panose="020B0604020202020204" pitchFamily="34" charset="0"/>
              </a:rPr>
              <a:t>np.array</a:t>
            </a:r>
            <a:r>
              <a:rPr lang="en-US" sz="24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((0,1,2,3,4))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9BFC83-0E58-271D-F44E-91D37DBD5615}"/>
              </a:ext>
            </a:extLst>
          </p:cNvPr>
          <p:cNvSpPr txBox="1"/>
          <p:nvPr/>
        </p:nvSpPr>
        <p:spPr>
          <a:xfrm>
            <a:off x="838200" y="2657640"/>
            <a:ext cx="10744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&gt;&gt; </a:t>
            </a:r>
            <a:r>
              <a:rPr lang="en-US" sz="3200" b="1" dirty="0" err="1">
                <a:solidFill>
                  <a:srgbClr val="C0000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a.dtype</a:t>
            </a:r>
            <a:r>
              <a:rPr lang="en-US" sz="3200" b="1" dirty="0">
                <a:solidFill>
                  <a:srgbClr val="C0000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             //Datatype of individual elements of array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D74FCE-9040-1161-1F77-EBBDACAAA9A7}"/>
              </a:ext>
            </a:extLst>
          </p:cNvPr>
          <p:cNvSpPr txBox="1"/>
          <p:nvPr/>
        </p:nvSpPr>
        <p:spPr>
          <a:xfrm>
            <a:off x="838200" y="3242415"/>
            <a:ext cx="63354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&gt;&gt; </a:t>
            </a:r>
            <a:r>
              <a:rPr lang="en-US" sz="3200" b="1" dirty="0" err="1">
                <a:latin typeface="Arial Narrow" panose="020B0604020202020204" pitchFamily="34" charset="0"/>
                <a:cs typeface="Arial Narrow" panose="020B0604020202020204" pitchFamily="34" charset="0"/>
              </a:rPr>
              <a:t>dtype</a:t>
            </a:r>
            <a:r>
              <a:rPr lang="en-US" sz="32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(‘int64’)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0DAC5F-1631-6385-9A3F-BC1292410122}"/>
              </a:ext>
            </a:extLst>
          </p:cNvPr>
          <p:cNvSpPr txBox="1"/>
          <p:nvPr/>
        </p:nvSpPr>
        <p:spPr>
          <a:xfrm>
            <a:off x="838200" y="3980452"/>
            <a:ext cx="107442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&gt;&gt; </a:t>
            </a:r>
            <a:r>
              <a:rPr lang="en-US" sz="3200" b="1" dirty="0" err="1">
                <a:solidFill>
                  <a:srgbClr val="C0000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a.size</a:t>
            </a:r>
            <a:endParaRPr lang="en-US" sz="3200" b="1" dirty="0">
              <a:solidFill>
                <a:srgbClr val="C00000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r>
              <a:rPr lang="en-US" sz="32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&gt;&gt; 5</a:t>
            </a:r>
          </a:p>
          <a:p>
            <a:r>
              <a:rPr lang="en-US" sz="3200" b="1" dirty="0">
                <a:solidFill>
                  <a:srgbClr val="C0000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&gt;&gt; </a:t>
            </a:r>
            <a:r>
              <a:rPr lang="en-US" sz="3200" b="1" dirty="0" err="1">
                <a:solidFill>
                  <a:srgbClr val="C0000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a.ndim</a:t>
            </a:r>
            <a:r>
              <a:rPr lang="en-US" sz="3200" b="1" dirty="0">
                <a:solidFill>
                  <a:srgbClr val="C0000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 : 1	// no. of array dimension or rank of array</a:t>
            </a:r>
          </a:p>
          <a:p>
            <a:r>
              <a:rPr lang="en-US" sz="3200" b="1" dirty="0">
                <a:solidFill>
                  <a:srgbClr val="C0000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&gt;&gt; </a:t>
            </a:r>
            <a:r>
              <a:rPr lang="en-US" sz="3200" b="1" dirty="0" err="1">
                <a:solidFill>
                  <a:srgbClr val="C0000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a.shape</a:t>
            </a:r>
            <a:r>
              <a:rPr lang="en-US" sz="3200" b="1" dirty="0">
                <a:solidFill>
                  <a:srgbClr val="C0000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 : (5,)                       //size of array in each dimension</a:t>
            </a:r>
          </a:p>
        </p:txBody>
      </p:sp>
    </p:spTree>
    <p:extLst>
      <p:ext uri="{BB962C8B-B14F-4D97-AF65-F5344CB8AC3E}">
        <p14:creationId xmlns:p14="http://schemas.microsoft.com/office/powerpoint/2010/main" val="2234175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  <p:bldP spid="3" grpId="0" uiExpand="1" build="p" bldLvl="3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982459-985D-DC18-44F4-41729C398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78" y="1025482"/>
            <a:ext cx="5323112" cy="32373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C298EE-0D9B-1526-5C06-1C9F00BC432C}"/>
              </a:ext>
            </a:extLst>
          </p:cNvPr>
          <p:cNvSpPr txBox="1"/>
          <p:nvPr/>
        </p:nvSpPr>
        <p:spPr>
          <a:xfrm>
            <a:off x="654778" y="333622"/>
            <a:ext cx="10248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What about creating </a:t>
            </a:r>
            <a:r>
              <a:rPr lang="en-US" sz="2800" b="1" dirty="0" err="1">
                <a:latin typeface="Arial Narrow" panose="020B0604020202020204" pitchFamily="34" charset="0"/>
                <a:cs typeface="Arial Narrow" panose="020B0604020202020204" pitchFamily="34" charset="0"/>
              </a:rPr>
              <a:t>numpy</a:t>
            </a:r>
            <a:r>
              <a:rPr lang="en-US" sz="28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 array from sets and dictionaries?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DE85FA-4C3C-256C-47A4-B3EB4D0BE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3590" y="1025481"/>
            <a:ext cx="6117776" cy="32373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8BC76B6-12DE-567E-42E9-366C90284CD7}"/>
              </a:ext>
            </a:extLst>
          </p:cNvPr>
          <p:cNvSpPr txBox="1"/>
          <p:nvPr/>
        </p:nvSpPr>
        <p:spPr>
          <a:xfrm>
            <a:off x="639809" y="4262858"/>
            <a:ext cx="1091238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When you pass a set or a dictionary directly to </a:t>
            </a:r>
            <a:r>
              <a:rPr lang="en-US" sz="2400" dirty="0" err="1"/>
              <a:t>np.array</a:t>
            </a:r>
            <a:r>
              <a:rPr lang="en-US" sz="2400" dirty="0"/>
              <a:t>(), NumPy treats the dictionary as one object. It does not unpack it into individual key-value pairs (as it would for lists or tuples). Therefore, the resulting </a:t>
            </a:r>
            <a:r>
              <a:rPr lang="en-US" sz="2400" b="1" dirty="0"/>
              <a:t>NumPy array</a:t>
            </a:r>
            <a:r>
              <a:rPr lang="en-US" sz="2400" dirty="0"/>
              <a:t> is a </a:t>
            </a:r>
            <a:r>
              <a:rPr lang="en-US" sz="2400" b="1" dirty="0"/>
              <a:t>0-dimensional object</a:t>
            </a:r>
            <a:r>
              <a:rPr lang="en-US" sz="2400" dirty="0"/>
              <a:t> (essentially a single object), and trying to index it like an array will give you the error.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BABF69-A372-1F4A-ABF5-2EC2D22678DD}"/>
              </a:ext>
            </a:extLst>
          </p:cNvPr>
          <p:cNvSpPr txBox="1"/>
          <p:nvPr/>
        </p:nvSpPr>
        <p:spPr>
          <a:xfrm>
            <a:off x="639809" y="5932262"/>
            <a:ext cx="109123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Sets are unordered collections of unique elements, and NumPy doesn't know how to handle them in the same way it handles lists or tuples.</a:t>
            </a:r>
          </a:p>
        </p:txBody>
      </p:sp>
    </p:spTree>
    <p:extLst>
      <p:ext uri="{BB962C8B-B14F-4D97-AF65-F5344CB8AC3E}">
        <p14:creationId xmlns:p14="http://schemas.microsoft.com/office/powerpoint/2010/main" val="1261503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E8461-66B4-ABB2-A522-2A164676B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130" y="384175"/>
            <a:ext cx="10515600" cy="4351338"/>
          </a:xfrm>
        </p:spPr>
        <p:txBody>
          <a:bodyPr/>
          <a:lstStyle/>
          <a:p>
            <a:pPr algn="l"/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Creating an Array of Zeros</a:t>
            </a:r>
          </a:p>
          <a:p>
            <a:pPr algn="l"/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zeros =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-apple-system"/>
              </a:rPr>
              <a:t>np.zeros</a:t>
            </a:r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(5)</a:t>
            </a:r>
            <a:b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</a:br>
            <a:endParaRPr lang="en-US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algn="l"/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Creating an Array of Ones</a:t>
            </a:r>
          </a:p>
          <a:p>
            <a:pPr algn="l"/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ones =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-apple-system"/>
              </a:rPr>
              <a:t>np.ones</a:t>
            </a:r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(5)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493AB3-642F-E3AD-29E2-14B89EE36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060" y="482504"/>
            <a:ext cx="3759200" cy="1320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56D437-0D0A-2DC4-A2C5-073E4BB10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5380" y="2091690"/>
            <a:ext cx="5848350" cy="19915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939C87-7C82-1A54-4A6E-9CC866E148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090" y="4543232"/>
            <a:ext cx="7772400" cy="20119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F6FCEA-4105-5D68-D862-FF4C840C6059}"/>
              </a:ext>
            </a:extLst>
          </p:cNvPr>
          <p:cNvSpPr txBox="1"/>
          <p:nvPr/>
        </p:nvSpPr>
        <p:spPr>
          <a:xfrm>
            <a:off x="5010786" y="4735513"/>
            <a:ext cx="60979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np.zeros</a:t>
            </a:r>
            <a:r>
              <a:rPr lang="en-US" dirty="0"/>
              <a:t>() function accepts only single argument i.e.</a:t>
            </a:r>
          </a:p>
          <a:p>
            <a:r>
              <a:rPr lang="en-US" dirty="0"/>
              <a:t>tuple representing the shape of the array</a:t>
            </a:r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0F47A4A8-9581-9BB4-9A09-DD27320D30E5}"/>
              </a:ext>
            </a:extLst>
          </p:cNvPr>
          <p:cNvCxnSpPr>
            <a:endCxn id="8" idx="0"/>
          </p:cNvCxnSpPr>
          <p:nvPr/>
        </p:nvCxnSpPr>
        <p:spPr>
          <a:xfrm flipV="1">
            <a:off x="3017520" y="4735513"/>
            <a:ext cx="5042218" cy="141494"/>
          </a:xfrm>
          <a:prstGeom prst="bentConnector4">
            <a:avLst>
              <a:gd name="adj1" fmla="val 271"/>
              <a:gd name="adj2" fmla="val 261562"/>
            </a:avLst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9394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FA3E7-F9CB-4C08-91BA-E6D01A2CB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AE741-8AFC-0942-82A1-900336D40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ND Array – Indexing       &amp;           Slicing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DAD0BE-E452-DAAF-7381-9B764F2A6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67" y="1690688"/>
            <a:ext cx="4827779" cy="46537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6284A7-94F6-F7DA-7D4A-240595B64F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0904" y="1467885"/>
            <a:ext cx="2990850" cy="3225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A417DF-E026-7A07-F9EC-844D991265F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3748"/>
          <a:stretch/>
        </p:blipFill>
        <p:spPr>
          <a:xfrm>
            <a:off x="6520558" y="4017549"/>
            <a:ext cx="5157920" cy="2768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731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13F41-37AD-6978-C235-F21440BFA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688" y="73581"/>
            <a:ext cx="11181522" cy="1325563"/>
          </a:xfrm>
        </p:spPr>
        <p:txBody>
          <a:bodyPr/>
          <a:lstStyle/>
          <a:p>
            <a:r>
              <a:rPr lang="en-US" b="1" dirty="0">
                <a:latin typeface="Arial Narrow" panose="020B0604020202020204" pitchFamily="34" charset="0"/>
                <a:cs typeface="Arial Narrow" panose="020B0604020202020204" pitchFamily="34" charset="0"/>
              </a:rPr>
              <a:t>      </a:t>
            </a:r>
            <a:r>
              <a:rPr lang="en-US" b="1" dirty="0" err="1">
                <a:latin typeface="Arial Narrow" panose="020B0604020202020204" pitchFamily="34" charset="0"/>
                <a:cs typeface="Arial Narrow" panose="020B0604020202020204" pitchFamily="34" charset="0"/>
              </a:rPr>
              <a:t>Numpy</a:t>
            </a:r>
            <a:r>
              <a:rPr lang="en-US" b="1" dirty="0">
                <a:latin typeface="Arial Narrow" panose="020B0604020202020204" pitchFamily="34" charset="0"/>
                <a:cs typeface="Arial Narrow" panose="020B0604020202020204" pitchFamily="34" charset="0"/>
              </a:rPr>
              <a:t> array        vs   Other Python Sequences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923D6C-13FD-20D7-94AA-34BE4EED12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8688" y="1534081"/>
            <a:ext cx="5181600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22283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rPr>
              <a:t>Have a fixed size at creation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Arial Narrow" panose="020B0604020202020204" pitchFamily="34" charset="0"/>
                <a:cs typeface="Arial Narrow" panose="020B0604020202020204" pitchFamily="34" charset="0"/>
              </a:rPr>
              <a:t>Changing the size of an </a:t>
            </a:r>
            <a:r>
              <a:rPr lang="en-US" dirty="0" err="1">
                <a:latin typeface="Arial Narrow" panose="020B0604020202020204" pitchFamily="34" charset="0"/>
                <a:cs typeface="Arial Narrow" panose="020B0604020202020204" pitchFamily="34" charset="0"/>
              </a:rPr>
              <a:t>ndarray</a:t>
            </a:r>
            <a:r>
              <a:rPr lang="en-US" dirty="0">
                <a:latin typeface="Arial Narrow" panose="020B0604020202020204" pitchFamily="34" charset="0"/>
                <a:cs typeface="Arial Narrow" panose="020B0604020202020204" pitchFamily="34" charset="0"/>
              </a:rPr>
              <a:t> will create a new array and delete the original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Arial Narrow" panose="020B0604020202020204" pitchFamily="34" charset="0"/>
                <a:cs typeface="Arial Narrow" panose="020B0604020202020204" pitchFamily="34" charset="0"/>
              </a:rPr>
              <a:t>Elements same datatype, and thus will be the same size in memory*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C0000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Vectorized</a:t>
            </a:r>
            <a:r>
              <a:rPr lang="en-US" dirty="0">
                <a:latin typeface="Arial Narrow" panose="020B0604020202020204" pitchFamily="34" charset="0"/>
                <a:cs typeface="Arial Narrow" panose="020B0604020202020204" pitchFamily="34" charset="0"/>
              </a:rPr>
              <a:t> Operations 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Arial Narrow" panose="020B0604020202020204" pitchFamily="34" charset="0"/>
                <a:cs typeface="Arial Narrow" panose="020B0604020202020204" pitchFamily="34" charset="0"/>
              </a:rPr>
              <a:t>Executed more efficiently and with less code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9D9D7E-50DB-37E6-4604-0A087154B2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9449" y="1534081"/>
            <a:ext cx="5181600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dirty="0">
                <a:latin typeface="Arial Narrow" panose="020B0604020202020204" pitchFamily="34" charset="0"/>
                <a:cs typeface="Arial Narrow" panose="020B0604020202020204" pitchFamily="34" charset="0"/>
              </a:rPr>
              <a:t>Python list can grow dynamically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Arial Narrow" panose="020B0604020202020204" pitchFamily="34" charset="0"/>
                <a:cs typeface="Arial Narrow" panose="020B0604020202020204" pitchFamily="34" charset="0"/>
              </a:rPr>
              <a:t>Elements of different data type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Arial Narrow" panose="020B0604020202020204" pitchFamily="34" charset="0"/>
                <a:cs typeface="Arial Narrow" panose="020B0604020202020204" pitchFamily="34" charset="0"/>
              </a:rPr>
              <a:t>Looping overhead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latin typeface="Arial Narrow" panose="020B0604020202020204" pitchFamily="34" charset="0"/>
                <a:cs typeface="Arial Narrow" panose="020B0604020202020204" pitchFamily="34" charset="0"/>
              </a:rPr>
              <a:t>Slower because each operation is interpreted and executed one-by-one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784051-50B7-F6CD-8543-93978F3ED7A5}"/>
              </a:ext>
            </a:extLst>
          </p:cNvPr>
          <p:cNvSpPr txBox="1"/>
          <p:nvPr/>
        </p:nvSpPr>
        <p:spPr>
          <a:xfrm>
            <a:off x="758688" y="6281531"/>
            <a:ext cx="4873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*Exception – Array of objects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51F8A4-7F25-433E-A2A8-FCA409C3E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174" y="1465501"/>
            <a:ext cx="8080514" cy="4260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185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7831741-6DC4-FF15-2261-11F918F5D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47" y="365125"/>
            <a:ext cx="11529391" cy="1325563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Example - Multiplying each element in a 1-D sequence with the corresponding element in another sequence of the same length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BB0074-960B-E2D9-BE17-1DA3C2408B31}"/>
              </a:ext>
            </a:extLst>
          </p:cNvPr>
          <p:cNvSpPr txBox="1"/>
          <p:nvPr/>
        </p:nvSpPr>
        <p:spPr>
          <a:xfrm>
            <a:off x="1470992" y="1825589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c = []</a:t>
            </a:r>
          </a:p>
          <a:p>
            <a:r>
              <a:rPr lang="en-US" sz="3600" dirty="0"/>
              <a:t>for </a:t>
            </a:r>
            <a:r>
              <a:rPr lang="en-US" sz="3600" dirty="0" err="1"/>
              <a:t>i</a:t>
            </a:r>
            <a:r>
              <a:rPr lang="en-US" sz="3600" dirty="0"/>
              <a:t> in range(</a:t>
            </a:r>
            <a:r>
              <a:rPr lang="en-US" sz="3600" dirty="0" err="1"/>
              <a:t>len</a:t>
            </a:r>
            <a:r>
              <a:rPr lang="en-US" sz="3600" dirty="0"/>
              <a:t>(a)):</a:t>
            </a:r>
          </a:p>
          <a:p>
            <a:r>
              <a:rPr lang="en-US" sz="3600" dirty="0"/>
              <a:t>    </a:t>
            </a:r>
            <a:r>
              <a:rPr lang="en-US" sz="3600" dirty="0" err="1"/>
              <a:t>c.append</a:t>
            </a:r>
            <a:r>
              <a:rPr lang="en-US" sz="3600" dirty="0"/>
              <a:t>(a[</a:t>
            </a:r>
            <a:r>
              <a:rPr lang="en-US" sz="3600" dirty="0" err="1"/>
              <a:t>i</a:t>
            </a:r>
            <a:r>
              <a:rPr lang="en-US" sz="3600" dirty="0"/>
              <a:t>]*b[</a:t>
            </a:r>
            <a:r>
              <a:rPr lang="en-US" sz="3600" dirty="0" err="1"/>
              <a:t>i</a:t>
            </a:r>
            <a:r>
              <a:rPr lang="en-US" sz="3600" dirty="0"/>
              <a:t>])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1E37B5-1F7D-EF70-2E47-E860A584DA78}"/>
              </a:ext>
            </a:extLst>
          </p:cNvPr>
          <p:cNvSpPr txBox="1"/>
          <p:nvPr/>
        </p:nvSpPr>
        <p:spPr>
          <a:xfrm>
            <a:off x="331304" y="3769247"/>
            <a:ext cx="115293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What if a and b each contain millions of numbers; we will pay the price for the inefficiencies of looping in Python.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5C4AC0-21E2-AF6C-57FE-F1995C6A02FA}"/>
              </a:ext>
            </a:extLst>
          </p:cNvPr>
          <p:cNvSpPr txBox="1"/>
          <p:nvPr/>
        </p:nvSpPr>
        <p:spPr>
          <a:xfrm>
            <a:off x="424072" y="4751560"/>
            <a:ext cx="1152939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Python is an interpreted language, which makes it slower for tasks like loops or element-wise operations due to: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b="1" i="1" dirty="0">
                <a:latin typeface="Arial Narrow" panose="020B0604020202020204" pitchFamily="34" charset="0"/>
                <a:cs typeface="Arial Narrow" panose="020B0604020202020204" pitchFamily="34" charset="0"/>
              </a:rPr>
              <a:t>Type checking for every element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b="1" i="1" dirty="0">
                <a:latin typeface="Arial Narrow" panose="020B0604020202020204" pitchFamily="34" charset="0"/>
                <a:cs typeface="Arial Narrow" panose="020B0604020202020204" pitchFamily="34" charset="0"/>
              </a:rPr>
              <a:t>High-level abstractions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b="1" i="1" dirty="0">
                <a:latin typeface="Arial Narrow" panose="020B0604020202020204" pitchFamily="34" charset="0"/>
                <a:cs typeface="Arial Narrow" panose="020B0604020202020204" pitchFamily="34" charset="0"/>
              </a:rPr>
              <a:t>Interpreted execution (not compiled)</a:t>
            </a:r>
          </a:p>
        </p:txBody>
      </p:sp>
    </p:spTree>
    <p:extLst>
      <p:ext uri="{BB962C8B-B14F-4D97-AF65-F5344CB8AC3E}">
        <p14:creationId xmlns:p14="http://schemas.microsoft.com/office/powerpoint/2010/main" val="2915656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F4DD5-A89E-AB66-0883-D34E085B8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79314-E414-DB0F-32BA-216B68780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87" y="-20430"/>
            <a:ext cx="10515600" cy="1325563"/>
          </a:xfrm>
        </p:spPr>
        <p:txBody>
          <a:bodyPr/>
          <a:lstStyle/>
          <a:p>
            <a:r>
              <a:rPr lang="en-US" dirty="0"/>
              <a:t>1. Dynamic Type Checking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429F0-8F13-B338-C0C1-831A74C10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55782"/>
            <a:ext cx="10956235" cy="4351338"/>
          </a:xfrm>
        </p:spPr>
        <p:txBody>
          <a:bodyPr/>
          <a:lstStyle/>
          <a:p>
            <a:r>
              <a:rPr lang="en-US" dirty="0"/>
              <a:t>Type of a variable is determined at runtime. </a:t>
            </a:r>
          </a:p>
          <a:p>
            <a:r>
              <a:rPr lang="en-US" dirty="0"/>
              <a:t>In operations like loops or element-wise calculations, Python performs type checks for every single element to ensure the operation is valid.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7573C5-E70B-8A6B-368A-6C33BEE3145F}"/>
              </a:ext>
            </a:extLst>
          </p:cNvPr>
          <p:cNvSpPr txBox="1"/>
          <p:nvPr/>
        </p:nvSpPr>
        <p:spPr>
          <a:xfrm>
            <a:off x="1179443" y="2859157"/>
            <a:ext cx="7328453" cy="156966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b="1" dirty="0"/>
              <a:t>data = [1, 2, 3, 4, 5]</a:t>
            </a:r>
          </a:p>
          <a:p>
            <a:r>
              <a:rPr lang="en-US" sz="2400" b="1" dirty="0"/>
              <a:t>result = []</a:t>
            </a:r>
          </a:p>
          <a:p>
            <a:r>
              <a:rPr lang="en-US" sz="2400" b="1" dirty="0"/>
              <a:t>for </a:t>
            </a:r>
            <a:r>
              <a:rPr lang="en-US" sz="2400" b="1" dirty="0" err="1"/>
              <a:t>i</a:t>
            </a:r>
            <a:r>
              <a:rPr lang="en-US" sz="2400" b="1" dirty="0"/>
              <a:t> in data:</a:t>
            </a:r>
          </a:p>
          <a:p>
            <a:r>
              <a:rPr lang="en-US" sz="2400" b="1" dirty="0"/>
              <a:t>    </a:t>
            </a:r>
            <a:r>
              <a:rPr lang="en-US" sz="2400" b="1" dirty="0" err="1"/>
              <a:t>result.append</a:t>
            </a:r>
            <a:r>
              <a:rPr lang="en-US" sz="2400" b="1" dirty="0"/>
              <a:t>(</a:t>
            </a:r>
            <a:r>
              <a:rPr lang="en-US" sz="2400" b="1" dirty="0" err="1"/>
              <a:t>i</a:t>
            </a:r>
            <a:r>
              <a:rPr lang="en-US" sz="2400" b="1" dirty="0"/>
              <a:t> + 2)  </a:t>
            </a:r>
            <a:r>
              <a:rPr lang="en-US" sz="1400" b="1" dirty="0"/>
              <a:t># Python checks the type of `</a:t>
            </a:r>
            <a:r>
              <a:rPr lang="en-US" sz="1400" b="1" dirty="0" err="1"/>
              <a:t>i</a:t>
            </a:r>
            <a:r>
              <a:rPr lang="en-US" sz="1400" b="1" dirty="0"/>
              <a:t>` and `2` on every iteration</a:t>
            </a:r>
            <a:endParaRPr lang="en-US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F0ABF2-C58F-E4D0-1DD3-D7835F6AD48D}"/>
              </a:ext>
            </a:extLst>
          </p:cNvPr>
          <p:cNvSpPr txBox="1"/>
          <p:nvPr/>
        </p:nvSpPr>
        <p:spPr>
          <a:xfrm>
            <a:off x="1179443" y="4718944"/>
            <a:ext cx="1017435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Why is it slow?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For every addition (</a:t>
            </a:r>
            <a:r>
              <a:rPr lang="en-US" sz="2400" dirty="0" err="1"/>
              <a:t>i</a:t>
            </a:r>
            <a:r>
              <a:rPr lang="en-US" sz="2400" dirty="0"/>
              <a:t> + 2), Python: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Checks the type of </a:t>
            </a:r>
            <a:r>
              <a:rPr lang="en-US" sz="2400" dirty="0" err="1"/>
              <a:t>i</a:t>
            </a:r>
            <a:r>
              <a:rPr lang="en-US" sz="2400" dirty="0"/>
              <a:t> (e.g., is it an int, float, or str?).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Checks the type of 2.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Decides how to perform the operation (int + int, float + int, etc.).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8A6C93-FE99-9FEA-0328-608FA84D4D9E}"/>
              </a:ext>
            </a:extLst>
          </p:cNvPr>
          <p:cNvSpPr txBox="1"/>
          <p:nvPr/>
        </p:nvSpPr>
        <p:spPr>
          <a:xfrm>
            <a:off x="8719930" y="3209873"/>
            <a:ext cx="341574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In contrast, C:</a:t>
            </a:r>
            <a:endParaRPr lang="en-US" sz="2000" dirty="0">
              <a:solidFill>
                <a:srgbClr val="C0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00000"/>
                </a:solidFill>
              </a:rPr>
              <a:t> C variables have fixed types (e.g., int, float) determined at compile time, so no type checks are needed during execution.</a:t>
            </a:r>
          </a:p>
        </p:txBody>
      </p:sp>
    </p:spTree>
    <p:extLst>
      <p:ext uri="{BB962C8B-B14F-4D97-AF65-F5344CB8AC3E}">
        <p14:creationId xmlns:p14="http://schemas.microsoft.com/office/powerpoint/2010/main" val="256912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A9566-130E-B83F-ED80-243E63D8F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566" y="-22749"/>
            <a:ext cx="10515600" cy="1325563"/>
          </a:xfrm>
        </p:spPr>
        <p:txBody>
          <a:bodyPr/>
          <a:lstStyle/>
          <a:p>
            <a:r>
              <a:rPr lang="en-US" dirty="0"/>
              <a:t>2. High Level Abstractions (List, Tuple,..)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E560-EDE2-B061-2772-D4C4E5FEE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55782"/>
            <a:ext cx="10956235" cy="4351338"/>
          </a:xfrm>
        </p:spPr>
        <p:txBody>
          <a:bodyPr>
            <a:normAutofit/>
          </a:bodyPr>
          <a:lstStyle/>
          <a:p>
            <a:pPr algn="just"/>
            <a:r>
              <a:rPr lang="en-US" sz="2600" dirty="0"/>
              <a:t>Lists, dictionaries, and objects that are easy to use but have additional overhead. </a:t>
            </a:r>
          </a:p>
          <a:p>
            <a:pPr algn="just"/>
            <a:r>
              <a:rPr lang="en-US" sz="2600" dirty="0"/>
              <a:t>For example, a Python list can store elements of different types, requiring Python to handle memory allocation dynamically.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F47615-181C-951D-7E0A-B952C39CCD8E}"/>
              </a:ext>
            </a:extLst>
          </p:cNvPr>
          <p:cNvSpPr txBox="1"/>
          <p:nvPr/>
        </p:nvSpPr>
        <p:spPr>
          <a:xfrm>
            <a:off x="1179443" y="3055100"/>
            <a:ext cx="3653814" cy="46166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b="1" dirty="0"/>
              <a:t>data = [1, 2.5, ‘3’, 4, 5]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1C828E-8672-66FF-5460-B8E650EC7DB7}"/>
              </a:ext>
            </a:extLst>
          </p:cNvPr>
          <p:cNvSpPr txBox="1"/>
          <p:nvPr/>
        </p:nvSpPr>
        <p:spPr>
          <a:xfrm>
            <a:off x="1008822" y="3826315"/>
            <a:ext cx="730786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Why is it slow?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Each element in the list is a Python object, not a raw integer.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Every element comes with additional metadata (e.g., type, size).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Python dynamically allocates and manages memory for the list and its elements.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5AAAE8-6A8A-8AD4-78A8-A2D036E658E2}"/>
              </a:ext>
            </a:extLst>
          </p:cNvPr>
          <p:cNvSpPr txBox="1"/>
          <p:nvPr/>
        </p:nvSpPr>
        <p:spPr>
          <a:xfrm>
            <a:off x="8719930" y="3209873"/>
            <a:ext cx="341574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In contrast, C:</a:t>
            </a:r>
            <a:endParaRPr lang="en-US" sz="2000" dirty="0">
              <a:solidFill>
                <a:srgbClr val="C00000"/>
              </a:solidFill>
            </a:endParaRPr>
          </a:p>
          <a:p>
            <a:r>
              <a:rPr lang="en-US" sz="2000" dirty="0">
                <a:solidFill>
                  <a:srgbClr val="C00000"/>
                </a:solidFill>
              </a:rPr>
              <a:t>Arrays in C are simple and store raw data without additional metadata or memory management overhead.</a:t>
            </a:r>
          </a:p>
        </p:txBody>
      </p:sp>
    </p:spTree>
    <p:extLst>
      <p:ext uri="{BB962C8B-B14F-4D97-AF65-F5344CB8AC3E}">
        <p14:creationId xmlns:p14="http://schemas.microsoft.com/office/powerpoint/2010/main" val="150152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B7FC5-D859-EECD-684F-13B850232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21866-ED11-85B8-077D-F1B374B2B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566" y="-22749"/>
            <a:ext cx="10515600" cy="1325563"/>
          </a:xfrm>
        </p:spPr>
        <p:txBody>
          <a:bodyPr/>
          <a:lstStyle/>
          <a:p>
            <a:r>
              <a:rPr lang="en-US" dirty="0"/>
              <a:t>3. Interpreted Execution (Not Compiled)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46CC9-CA67-061A-97DA-80B4BDEAE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55782"/>
            <a:ext cx="10956235" cy="4351338"/>
          </a:xfrm>
        </p:spPr>
        <p:txBody>
          <a:bodyPr>
            <a:normAutofit/>
          </a:bodyPr>
          <a:lstStyle/>
          <a:p>
            <a:pPr algn="just"/>
            <a:r>
              <a:rPr lang="en-US" sz="2600" dirty="0"/>
              <a:t>Translates Python code to machine code during execution, adding overhead</a:t>
            </a:r>
          </a:p>
          <a:p>
            <a:pPr algn="just"/>
            <a:r>
              <a:rPr lang="en-US" sz="2600" dirty="0"/>
              <a:t>Evaluates each line, figures out the meaning of data, </a:t>
            </a:r>
            <a:r>
              <a:rPr lang="en-US" sz="2600" dirty="0" err="1"/>
              <a:t>i</a:t>
            </a:r>
            <a:r>
              <a:rPr lang="en-US" sz="2600" dirty="0"/>
              <a:t>, *, and append, and executes the operations.</a:t>
            </a:r>
          </a:p>
          <a:p>
            <a:pPr algn="just"/>
            <a:r>
              <a:rPr lang="en-US" sz="2600" dirty="0"/>
              <a:t>This is repeated for each iteration of the loop.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499FBC-8F75-E989-66D2-D0EEBB8821FD}"/>
              </a:ext>
            </a:extLst>
          </p:cNvPr>
          <p:cNvSpPr txBox="1"/>
          <p:nvPr/>
        </p:nvSpPr>
        <p:spPr>
          <a:xfrm>
            <a:off x="1373020" y="3475713"/>
            <a:ext cx="6181665" cy="156966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b="1" dirty="0"/>
              <a:t>data = [1, 2, 3, 4, 5]</a:t>
            </a:r>
          </a:p>
          <a:p>
            <a:r>
              <a:rPr lang="en-US" sz="2400" b="1" dirty="0"/>
              <a:t>result = []</a:t>
            </a:r>
          </a:p>
          <a:p>
            <a:r>
              <a:rPr lang="en-US" sz="2400" b="1" dirty="0"/>
              <a:t>for </a:t>
            </a:r>
            <a:r>
              <a:rPr lang="en-US" sz="2400" b="1" dirty="0" err="1"/>
              <a:t>i</a:t>
            </a:r>
            <a:r>
              <a:rPr lang="en-US" sz="2400" b="1" dirty="0"/>
              <a:t> in data:</a:t>
            </a:r>
          </a:p>
          <a:p>
            <a:r>
              <a:rPr lang="en-US" sz="2400" b="1" dirty="0"/>
              <a:t>    </a:t>
            </a:r>
            <a:r>
              <a:rPr lang="en-US" sz="2400" b="1" dirty="0" err="1"/>
              <a:t>result.append</a:t>
            </a:r>
            <a:r>
              <a:rPr lang="en-US" sz="2400" b="1" dirty="0"/>
              <a:t>(</a:t>
            </a:r>
            <a:r>
              <a:rPr lang="en-US" sz="2400" b="1" dirty="0" err="1"/>
              <a:t>i</a:t>
            </a:r>
            <a:r>
              <a:rPr lang="en-US" sz="2400" b="1" dirty="0"/>
              <a:t> * 2) </a:t>
            </a:r>
            <a:r>
              <a:rPr lang="en-US" sz="1400" b="1" dirty="0"/>
              <a:t> # Each iteration involves interpretation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E8448D-7264-8C15-4E0A-84F416D83A70}"/>
              </a:ext>
            </a:extLst>
          </p:cNvPr>
          <p:cNvSpPr txBox="1"/>
          <p:nvPr/>
        </p:nvSpPr>
        <p:spPr>
          <a:xfrm>
            <a:off x="8719930" y="3209873"/>
            <a:ext cx="341574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In contrast, C:</a:t>
            </a:r>
            <a:endParaRPr lang="en-US" sz="2000" dirty="0">
              <a:solidFill>
                <a:srgbClr val="C00000"/>
              </a:solidFill>
            </a:endParaRPr>
          </a:p>
          <a:p>
            <a:r>
              <a:rPr lang="en-US" sz="2000" dirty="0">
                <a:solidFill>
                  <a:srgbClr val="C00000"/>
                </a:solidFill>
              </a:rPr>
              <a:t>Compiled languages like C translate code into machine instructions ahead of time. During execution, the CPU directly executes those instructions without interpreting the code line by line.</a:t>
            </a:r>
          </a:p>
        </p:txBody>
      </p:sp>
    </p:spTree>
    <p:extLst>
      <p:ext uri="{BB962C8B-B14F-4D97-AF65-F5344CB8AC3E}">
        <p14:creationId xmlns:p14="http://schemas.microsoft.com/office/powerpoint/2010/main" val="1582247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602785-5C25-0855-672F-63EF8B3207F0}"/>
              </a:ext>
            </a:extLst>
          </p:cNvPr>
          <p:cNvSpPr txBox="1"/>
          <p:nvPr/>
        </p:nvSpPr>
        <p:spPr>
          <a:xfrm>
            <a:off x="8371116" y="2219968"/>
            <a:ext cx="35828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for (</a:t>
            </a:r>
            <a:r>
              <a:rPr lang="en-US" sz="2400" dirty="0" err="1"/>
              <a:t>i</a:t>
            </a:r>
            <a:r>
              <a:rPr lang="en-US" sz="2400" dirty="0"/>
              <a:t> = 0; </a:t>
            </a:r>
            <a:r>
              <a:rPr lang="en-US" sz="2400" dirty="0" err="1"/>
              <a:t>i</a:t>
            </a:r>
            <a:r>
              <a:rPr lang="en-US" sz="2400" dirty="0"/>
              <a:t> &lt; rows; </a:t>
            </a:r>
            <a:r>
              <a:rPr lang="en-US" sz="2400" dirty="0" err="1"/>
              <a:t>i</a:t>
            </a:r>
            <a:r>
              <a:rPr lang="en-US" sz="2400" dirty="0"/>
              <a:t>++) {</a:t>
            </a:r>
          </a:p>
          <a:p>
            <a:r>
              <a:rPr lang="en-US" sz="2400" dirty="0"/>
              <a:t>  c[</a:t>
            </a:r>
            <a:r>
              <a:rPr lang="en-US" sz="2400" dirty="0" err="1"/>
              <a:t>i</a:t>
            </a:r>
            <a:r>
              <a:rPr lang="en-US" sz="2400" dirty="0"/>
              <a:t>] = a[</a:t>
            </a:r>
            <a:r>
              <a:rPr lang="en-US" sz="2400" dirty="0" err="1"/>
              <a:t>i</a:t>
            </a:r>
            <a:r>
              <a:rPr lang="en-US" sz="2400" dirty="0"/>
              <a:t>]*b[</a:t>
            </a:r>
            <a:r>
              <a:rPr lang="en-US" sz="2400" dirty="0" err="1"/>
              <a:t>i</a:t>
            </a:r>
            <a:r>
              <a:rPr lang="en-US" sz="2400" dirty="0"/>
              <a:t>];</a:t>
            </a:r>
          </a:p>
          <a:p>
            <a:r>
              <a:rPr lang="en-US" sz="2400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3DDD32-DE0E-489F-4487-E35E28A5A366}"/>
              </a:ext>
            </a:extLst>
          </p:cNvPr>
          <p:cNvSpPr txBox="1"/>
          <p:nvPr/>
        </p:nvSpPr>
        <p:spPr>
          <a:xfrm>
            <a:off x="8371116" y="1825625"/>
            <a:ext cx="26343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In C: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D0C2A3-E227-80C9-ED9D-C74B13448BEF}"/>
              </a:ext>
            </a:extLst>
          </p:cNvPr>
          <p:cNvSpPr txBox="1"/>
          <p:nvPr/>
        </p:nvSpPr>
        <p:spPr>
          <a:xfrm>
            <a:off x="8371116" y="3528536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for (</a:t>
            </a:r>
            <a:r>
              <a:rPr lang="en-US" sz="2000" dirty="0" err="1"/>
              <a:t>i</a:t>
            </a:r>
            <a:r>
              <a:rPr lang="en-US" sz="2000" dirty="0"/>
              <a:t> = 0; </a:t>
            </a:r>
            <a:r>
              <a:rPr lang="en-US" sz="2000" dirty="0" err="1"/>
              <a:t>i</a:t>
            </a:r>
            <a:r>
              <a:rPr lang="en-US" sz="2000" dirty="0"/>
              <a:t> &lt; rows; </a:t>
            </a:r>
            <a:r>
              <a:rPr lang="en-US" sz="2000" dirty="0" err="1"/>
              <a:t>i</a:t>
            </a:r>
            <a:r>
              <a:rPr lang="en-US" sz="2000" dirty="0"/>
              <a:t>++) {</a:t>
            </a:r>
          </a:p>
          <a:p>
            <a:r>
              <a:rPr lang="en-US" sz="2000" dirty="0"/>
              <a:t>  for (j = 0; j &lt; columns; </a:t>
            </a:r>
            <a:r>
              <a:rPr lang="en-US" sz="2000" dirty="0" err="1"/>
              <a:t>j++</a:t>
            </a:r>
            <a:r>
              <a:rPr lang="en-US" sz="2000" dirty="0"/>
              <a:t>) {</a:t>
            </a:r>
          </a:p>
          <a:p>
            <a:r>
              <a:rPr lang="en-US" sz="2000" dirty="0"/>
              <a:t>    c[</a:t>
            </a:r>
            <a:r>
              <a:rPr lang="en-US" sz="2000" dirty="0" err="1"/>
              <a:t>i</a:t>
            </a:r>
            <a:r>
              <a:rPr lang="en-US" sz="2000" dirty="0"/>
              <a:t>][j] = a[</a:t>
            </a:r>
            <a:r>
              <a:rPr lang="en-US" sz="2000" dirty="0" err="1"/>
              <a:t>i</a:t>
            </a:r>
            <a:r>
              <a:rPr lang="en-US" sz="2000" dirty="0"/>
              <a:t>][j]*b[</a:t>
            </a:r>
            <a:r>
              <a:rPr lang="en-US" sz="2000" dirty="0" err="1"/>
              <a:t>i</a:t>
            </a:r>
            <a:r>
              <a:rPr lang="en-US" sz="2000" dirty="0"/>
              <a:t>][j];</a:t>
            </a:r>
          </a:p>
          <a:p>
            <a:r>
              <a:rPr lang="en-US" sz="2000" dirty="0"/>
              <a:t>  }</a:t>
            </a:r>
          </a:p>
          <a:p>
            <a:r>
              <a:rPr lang="en-US" sz="2000" dirty="0"/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9E99D1-5785-2543-FA8F-3C6CC8BC2300}"/>
              </a:ext>
            </a:extLst>
          </p:cNvPr>
          <p:cNvSpPr txBox="1"/>
          <p:nvPr/>
        </p:nvSpPr>
        <p:spPr>
          <a:xfrm>
            <a:off x="401351" y="2194896"/>
            <a:ext cx="35828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 = []</a:t>
            </a:r>
          </a:p>
          <a:p>
            <a:r>
              <a:rPr lang="en-US" sz="2400" dirty="0"/>
              <a:t>for </a:t>
            </a:r>
            <a:r>
              <a:rPr lang="en-US" sz="2400" dirty="0" err="1"/>
              <a:t>i</a:t>
            </a:r>
            <a:r>
              <a:rPr lang="en-US" sz="2400" dirty="0"/>
              <a:t> in range(</a:t>
            </a:r>
            <a:r>
              <a:rPr lang="en-US" sz="2400" dirty="0" err="1"/>
              <a:t>len</a:t>
            </a:r>
            <a:r>
              <a:rPr lang="en-US" sz="2400" dirty="0"/>
              <a:t>(a)):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c.append</a:t>
            </a:r>
            <a:r>
              <a:rPr lang="en-US" sz="2400" dirty="0"/>
              <a:t>(a[</a:t>
            </a:r>
            <a:r>
              <a:rPr lang="en-US" sz="2400" dirty="0" err="1"/>
              <a:t>i</a:t>
            </a:r>
            <a:r>
              <a:rPr lang="en-US" sz="2400" dirty="0"/>
              <a:t>]*b[</a:t>
            </a:r>
            <a:r>
              <a:rPr lang="en-US" sz="2400" dirty="0" err="1"/>
              <a:t>i</a:t>
            </a:r>
            <a:r>
              <a:rPr lang="en-US" sz="2400" dirty="0"/>
              <a:t>])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867496-AFE1-702B-3BD6-E659FEAA7608}"/>
              </a:ext>
            </a:extLst>
          </p:cNvPr>
          <p:cNvSpPr txBox="1"/>
          <p:nvPr/>
        </p:nvSpPr>
        <p:spPr>
          <a:xfrm>
            <a:off x="401351" y="1825625"/>
            <a:ext cx="26343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In Python: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8AF1D8-3173-95CC-54EA-8DCF001CD4A8}"/>
              </a:ext>
            </a:extLst>
          </p:cNvPr>
          <p:cNvSpPr txBox="1"/>
          <p:nvPr/>
        </p:nvSpPr>
        <p:spPr>
          <a:xfrm>
            <a:off x="3494317" y="306634"/>
            <a:ext cx="4341982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rgbClr val="C00000"/>
                </a:solidFill>
              </a:rPr>
              <a:t>Numpy</a:t>
            </a:r>
            <a:r>
              <a:rPr lang="en-US" sz="3600" b="1" dirty="0">
                <a:solidFill>
                  <a:srgbClr val="C00000"/>
                </a:solidFill>
              </a:rPr>
              <a:t>:</a:t>
            </a:r>
          </a:p>
          <a:p>
            <a:pPr algn="ctr"/>
            <a:r>
              <a:rPr lang="en-US" sz="2000" i="1" dirty="0">
                <a:solidFill>
                  <a:srgbClr val="C00000"/>
                </a:solidFill>
              </a:rPr>
              <a:t>Gives us the best of both worlds: element-by-element operations are the “default mode” when an </a:t>
            </a:r>
            <a:r>
              <a:rPr lang="en-US" sz="2000" i="1" dirty="0" err="1">
                <a:solidFill>
                  <a:srgbClr val="C00000"/>
                </a:solidFill>
              </a:rPr>
              <a:t>ndarray</a:t>
            </a:r>
            <a:r>
              <a:rPr lang="en-US" sz="2000" i="1" dirty="0">
                <a:solidFill>
                  <a:srgbClr val="C00000"/>
                </a:solidFill>
              </a:rPr>
              <a:t> is involved, but the element-by-element operation is speedily executed by pre-compiled C code.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6F265A-FC1F-B80C-73E7-8381D8DD0B1C}"/>
              </a:ext>
            </a:extLst>
          </p:cNvPr>
          <p:cNvSpPr txBox="1"/>
          <p:nvPr/>
        </p:nvSpPr>
        <p:spPr>
          <a:xfrm>
            <a:off x="4980868" y="2882205"/>
            <a:ext cx="18587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c = a * 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080952-3F90-3983-6A69-044137AFE2A8}"/>
              </a:ext>
            </a:extLst>
          </p:cNvPr>
          <p:cNvSpPr txBox="1"/>
          <p:nvPr/>
        </p:nvSpPr>
        <p:spPr>
          <a:xfrm>
            <a:off x="4114800" y="4058377"/>
            <a:ext cx="33419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</a:rPr>
              <a:t>Same operation</a:t>
            </a:r>
          </a:p>
          <a:p>
            <a:pPr algn="ctr"/>
            <a:r>
              <a:rPr lang="en-US" sz="3600" dirty="0">
                <a:solidFill>
                  <a:srgbClr val="C00000"/>
                </a:solidFill>
              </a:rPr>
              <a:t>Near C-speed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682BDD-E75C-96B4-72AE-D000FD241BA1}"/>
              </a:ext>
            </a:extLst>
          </p:cNvPr>
          <p:cNvSpPr txBox="1"/>
          <p:nvPr/>
        </p:nvSpPr>
        <p:spPr>
          <a:xfrm>
            <a:off x="3589210" y="5788547"/>
            <a:ext cx="46420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 err="1">
                <a:solidFill>
                  <a:srgbClr val="C00000"/>
                </a:solidFill>
              </a:rPr>
              <a:t>Numpy</a:t>
            </a:r>
            <a:r>
              <a:rPr lang="en-US" sz="3600" dirty="0">
                <a:solidFill>
                  <a:srgbClr val="C00000"/>
                </a:solidFill>
              </a:rPr>
              <a:t> has C backend</a:t>
            </a:r>
          </a:p>
        </p:txBody>
      </p:sp>
    </p:spTree>
    <p:extLst>
      <p:ext uri="{BB962C8B-B14F-4D97-AF65-F5344CB8AC3E}">
        <p14:creationId xmlns:p14="http://schemas.microsoft.com/office/powerpoint/2010/main" val="3288384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0C213-CD9F-B003-47DA-8DBF42E12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is NumPy fast?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CD8F7-C4A4-3E42-E2A3-6B05C3C09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NumPy - Handles array operations in </a:t>
            </a:r>
            <a:r>
              <a:rPr lang="en-US" dirty="0">
                <a:solidFill>
                  <a:srgbClr val="C00000"/>
                </a:solidFill>
              </a:rPr>
              <a:t>vectorized</a:t>
            </a:r>
            <a:r>
              <a:rPr lang="en-US" dirty="0"/>
              <a:t> manner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B6C68B-70ED-8866-2061-BC283B0B2B4D}"/>
              </a:ext>
            </a:extLst>
          </p:cNvPr>
          <p:cNvSpPr txBox="1"/>
          <p:nvPr/>
        </p:nvSpPr>
        <p:spPr>
          <a:xfrm>
            <a:off x="6095999" y="2808514"/>
            <a:ext cx="5921825" cy="275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Process of applying operations </a:t>
            </a:r>
            <a:r>
              <a:rPr lang="en-US" sz="2400" b="1" dirty="0"/>
              <a:t>directly to entire arrays</a:t>
            </a:r>
            <a:r>
              <a:rPr lang="en-US" sz="2400" dirty="0"/>
              <a:t> or large blocks of data, rather than iterating over individual elements.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Absence of any explicit looping, indexing, etc., in the code - these things are taking place, of course, just “behind the scenes” in </a:t>
            </a:r>
            <a:r>
              <a:rPr lang="en-US" sz="2400" b="1" dirty="0">
                <a:solidFill>
                  <a:srgbClr val="C00000"/>
                </a:solidFill>
              </a:rPr>
              <a:t>optimized, pre-compiled C code.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B239130-9B21-3DD4-7C99-F4602E6CE5EF}"/>
              </a:ext>
            </a:extLst>
          </p:cNvPr>
          <p:cNvCxnSpPr/>
          <p:nvPr/>
        </p:nvCxnSpPr>
        <p:spPr>
          <a:xfrm>
            <a:off x="7130143" y="2231571"/>
            <a:ext cx="0" cy="57694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FEA79DE-593A-5A70-CEB3-51BB93FEE246}"/>
              </a:ext>
            </a:extLst>
          </p:cNvPr>
          <p:cNvSpPr txBox="1"/>
          <p:nvPr/>
        </p:nvSpPr>
        <p:spPr>
          <a:xfrm>
            <a:off x="2537732" y="2782669"/>
            <a:ext cx="18587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c = a * 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D11681-32EA-DB3B-DC2F-8EF52018BB0A}"/>
              </a:ext>
            </a:extLst>
          </p:cNvPr>
          <p:cNvSpPr txBox="1"/>
          <p:nvPr/>
        </p:nvSpPr>
        <p:spPr>
          <a:xfrm>
            <a:off x="1311965" y="3739537"/>
            <a:ext cx="424069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2400" b="1" i="1" u="sng" dirty="0"/>
              <a:t>Advantages of Vectorized Code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Enhanced Speed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Conciseness and Readability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Fewer Bugs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55DA22-645B-7974-F817-E9B1EE5AD972}"/>
              </a:ext>
            </a:extLst>
          </p:cNvPr>
          <p:cNvSpPr txBox="1"/>
          <p:nvPr/>
        </p:nvSpPr>
        <p:spPr>
          <a:xfrm>
            <a:off x="417383" y="6176963"/>
            <a:ext cx="114433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b="1" i="1" dirty="0"/>
              <a:t>Applications: </a:t>
            </a:r>
            <a:r>
              <a:rPr lang="en-US" sz="2400" i="1" dirty="0"/>
              <a:t>Machine Learning &amp; Data Science, Simulations, Image Processing etc.</a:t>
            </a:r>
          </a:p>
        </p:txBody>
      </p:sp>
    </p:spTree>
    <p:extLst>
      <p:ext uri="{BB962C8B-B14F-4D97-AF65-F5344CB8AC3E}">
        <p14:creationId xmlns:p14="http://schemas.microsoft.com/office/powerpoint/2010/main" val="1768296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758DF0-6370-8C4D-B05D-58CE414D46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2913" y="788691"/>
            <a:ext cx="11263072" cy="35315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8508E64-DF51-1DC7-D554-04C25FB5E8AB}"/>
                  </a:ext>
                </a:extLst>
              </p14:cNvPr>
              <p14:cNvContentPartPr/>
              <p14:nvPr/>
            </p14:nvContentPartPr>
            <p14:xfrm>
              <a:off x="2837776" y="2102066"/>
              <a:ext cx="360" cy="17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8508E64-DF51-1DC7-D554-04C25FB5E8A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31656" y="2095946"/>
                <a:ext cx="12600" cy="2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84021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F4996-B83E-439E-A517-6A3E9C509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DataFrames</a:t>
            </a:r>
            <a:r>
              <a:rPr lang="en-US" dirty="0"/>
              <a:t> -&gt;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72E52-32F9-A390-EC15-2DD702E0B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Almost all machine learning libraries convert Pandas </a:t>
            </a:r>
            <a:r>
              <a:rPr lang="en-US" dirty="0" err="1"/>
              <a:t>DataFrames</a:t>
            </a:r>
            <a:r>
              <a:rPr lang="en-US" dirty="0"/>
              <a:t> into NumPy arrays (or similar raw memory tensors) internally before performing </a:t>
            </a:r>
            <a:r>
              <a:rPr lang="en-US"/>
              <a:t>mathematical operations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017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427746-DF8E-E5FD-ABCC-885E7E857E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97079"/>
            <a:ext cx="9144000" cy="2387600"/>
          </a:xfrm>
        </p:spPr>
        <p:txBody>
          <a:bodyPr/>
          <a:lstStyle/>
          <a:p>
            <a:r>
              <a:rPr lang="en-US" dirty="0"/>
              <a:t>Basic Operations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420FA9B-EEE5-0120-1B48-440A5FE0CF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76754"/>
            <a:ext cx="9144000" cy="165576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rgbClr val="0F1114"/>
                </a:solidFill>
                <a:latin typeface="Source Sans Pro" panose="020B0503030403020204" pitchFamily="34" charset="0"/>
              </a:rPr>
              <a:t>O</a:t>
            </a:r>
            <a:r>
              <a:rPr lang="en-US" sz="2400" b="0" i="0" dirty="0">
                <a:solidFill>
                  <a:srgbClr val="0F1114"/>
                </a:solidFill>
                <a:effectLst/>
                <a:latin typeface="Source Sans Pro" panose="020B0503030403020204" pitchFamily="34" charset="0"/>
              </a:rPr>
              <a:t>perations are usually computationally faster and require less memory in NumPy compared to regular Python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rgbClr val="0F1114"/>
                </a:solidFill>
                <a:latin typeface="Source Sans Pro" panose="020B0503030403020204" pitchFamily="34" charset="0"/>
              </a:rPr>
              <a:t>Why ? - Vectorization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331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E0480-9E2B-D4DB-BB74-4BC457DA7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Numpy</a:t>
            </a:r>
            <a:r>
              <a:rPr lang="en-US" dirty="0"/>
              <a:t> arrays instead of list?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A4B31-E7FF-9FBF-EE03-5DFAC85C6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9210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= [1, 2, 3]</a:t>
            </a:r>
          </a:p>
          <a:p>
            <a:pPr marL="0" indent="0">
              <a:buNone/>
            </a:pPr>
            <a:r>
              <a:rPr lang="en-US" dirty="0"/>
              <a:t>a * 2</a:t>
            </a:r>
          </a:p>
          <a:p>
            <a:pPr marL="0" indent="0">
              <a:buNone/>
            </a:pPr>
            <a:r>
              <a:rPr lang="en-US" dirty="0"/>
              <a:t>[1, 2, 3, 1, 2, 3]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35F6953-26A9-42F2-BA1D-23E4D74449E7}"/>
              </a:ext>
            </a:extLst>
          </p:cNvPr>
          <p:cNvSpPr txBox="1">
            <a:spLocks/>
          </p:cNvSpPr>
          <p:nvPr/>
        </p:nvSpPr>
        <p:spPr>
          <a:xfrm>
            <a:off x="5740400" y="1825625"/>
            <a:ext cx="53975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 = </a:t>
            </a:r>
            <a:r>
              <a:rPr lang="en-US" dirty="0" err="1"/>
              <a:t>np.array</a:t>
            </a:r>
            <a:r>
              <a:rPr lang="en-US" dirty="0"/>
              <a:t>([1, 2, 3]) </a:t>
            </a:r>
          </a:p>
          <a:p>
            <a:pPr marL="0" indent="0">
              <a:buNone/>
            </a:pPr>
            <a:r>
              <a:rPr lang="en-US" dirty="0"/>
              <a:t>a * 2</a:t>
            </a:r>
          </a:p>
          <a:p>
            <a:pPr marL="0" indent="0">
              <a:buNone/>
            </a:pPr>
            <a:r>
              <a:rPr lang="en-US" dirty="0"/>
              <a:t>[2 4 6]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116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A6B4C-3791-521A-49F9-4C9B095E7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64805-81D4-EA4F-D910-9387C80E5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Vector – Magnitude and Direction</a:t>
            </a:r>
          </a:p>
          <a:p>
            <a:r>
              <a:rPr lang="en-US" dirty="0"/>
              <a:t>Vector in Python -  1D Array – Row Major / Column Major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DD26E3-577E-B516-C50E-2236783F6BF3}"/>
              </a:ext>
            </a:extLst>
          </p:cNvPr>
          <p:cNvSpPr txBox="1"/>
          <p:nvPr/>
        </p:nvSpPr>
        <p:spPr>
          <a:xfrm>
            <a:off x="899225" y="3216464"/>
            <a:ext cx="609858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B = </a:t>
            </a:r>
            <a:r>
              <a:rPr lang="en-US" sz="3200" dirty="0" err="1"/>
              <a:t>np.array</a:t>
            </a:r>
            <a:r>
              <a:rPr lang="en-US" sz="3200" dirty="0"/>
              <a:t>([[4], [5], [6]])</a:t>
            </a:r>
          </a:p>
          <a:p>
            <a:r>
              <a:rPr lang="en-US" sz="3200" dirty="0" err="1"/>
              <a:t>B.Shape</a:t>
            </a:r>
            <a:endParaRPr lang="en-US" sz="3200" dirty="0"/>
          </a:p>
          <a:p>
            <a:r>
              <a:rPr lang="en-US" sz="3200" dirty="0"/>
              <a:t>&gt;&gt; (3,1)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58D887-E931-B56F-EF60-B306A5DA94E3}"/>
              </a:ext>
            </a:extLst>
          </p:cNvPr>
          <p:cNvSpPr txBox="1"/>
          <p:nvPr/>
        </p:nvSpPr>
        <p:spPr>
          <a:xfrm>
            <a:off x="7058832" y="3136612"/>
            <a:ext cx="417291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=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np.array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([[1, 2, 3]])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 err="1">
                <a:solidFill>
                  <a:prstClr val="black"/>
                </a:solidFill>
                <a:latin typeface="Calibri" panose="020F0502020204030204"/>
              </a:rPr>
              <a:t>A.Shape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&gt;&gt; (3,)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EF90A7-B9C7-954F-EF50-4D68DDC26056}"/>
              </a:ext>
            </a:extLst>
          </p:cNvPr>
          <p:cNvSpPr txBox="1"/>
          <p:nvPr/>
        </p:nvSpPr>
        <p:spPr>
          <a:xfrm>
            <a:off x="7598843" y="4981664"/>
            <a:ext cx="12816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2 3</a:t>
            </a:r>
            <a:endParaRPr lang="en-US" dirty="0"/>
          </a:p>
        </p:txBody>
      </p:sp>
      <p:sp>
        <p:nvSpPr>
          <p:cNvPr id="9" name="Double Bracket 8">
            <a:extLst>
              <a:ext uri="{FF2B5EF4-FFF2-40B4-BE49-F238E27FC236}">
                <a16:creationId xmlns:a16="http://schemas.microsoft.com/office/drawing/2014/main" id="{F76C8628-4FEB-222B-F6DC-BD7311E69A32}"/>
              </a:ext>
            </a:extLst>
          </p:cNvPr>
          <p:cNvSpPr/>
          <p:nvPr/>
        </p:nvSpPr>
        <p:spPr>
          <a:xfrm>
            <a:off x="7461796" y="4889053"/>
            <a:ext cx="1170760" cy="1105128"/>
          </a:xfrm>
          <a:prstGeom prst="bracketPair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EB3A72-935E-4F8E-E3AD-B421B13C4D58}"/>
              </a:ext>
            </a:extLst>
          </p:cNvPr>
          <p:cNvSpPr txBox="1"/>
          <p:nvPr/>
        </p:nvSpPr>
        <p:spPr>
          <a:xfrm>
            <a:off x="2406920" y="5275674"/>
            <a:ext cx="4757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4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5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  <a:p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6</a:t>
            </a:r>
            <a:endParaRPr lang="en-US" dirty="0"/>
          </a:p>
        </p:txBody>
      </p:sp>
      <p:sp>
        <p:nvSpPr>
          <p:cNvPr id="11" name="Double Bracket 10">
            <a:extLst>
              <a:ext uri="{FF2B5EF4-FFF2-40B4-BE49-F238E27FC236}">
                <a16:creationId xmlns:a16="http://schemas.microsoft.com/office/drawing/2014/main" id="{3DB878A4-227C-42F5-D2F5-6E35ACAA3FA1}"/>
              </a:ext>
            </a:extLst>
          </p:cNvPr>
          <p:cNvSpPr/>
          <p:nvPr/>
        </p:nvSpPr>
        <p:spPr>
          <a:xfrm>
            <a:off x="2207881" y="5275674"/>
            <a:ext cx="736799" cy="1105128"/>
          </a:xfrm>
          <a:prstGeom prst="bracketPair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33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/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657AB-C7F0-83AD-74F6-0A8F9138F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12A6B-2E3A-0735-10E5-70D73B58C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98AC54C-7CB4-A14E-0BAC-0D5D7DEFD2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7459" y="365125"/>
            <a:ext cx="7036229" cy="641335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E61E6BC-FD92-1EAA-CFDE-E5AAC540F60C}"/>
              </a:ext>
            </a:extLst>
          </p:cNvPr>
          <p:cNvGraphicFramePr>
            <a:graphicFrameLocks noGrp="1"/>
          </p:cNvGraphicFramePr>
          <p:nvPr/>
        </p:nvGraphicFramePr>
        <p:xfrm>
          <a:off x="7741618" y="3956730"/>
          <a:ext cx="2736312" cy="1325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2104">
                  <a:extLst>
                    <a:ext uri="{9D8B030D-6E8A-4147-A177-3AD203B41FA5}">
                      <a16:colId xmlns:a16="http://schemas.microsoft.com/office/drawing/2014/main" val="1819223276"/>
                    </a:ext>
                  </a:extLst>
                </a:gridCol>
                <a:gridCol w="912104">
                  <a:extLst>
                    <a:ext uri="{9D8B030D-6E8A-4147-A177-3AD203B41FA5}">
                      <a16:colId xmlns:a16="http://schemas.microsoft.com/office/drawing/2014/main" val="2721200926"/>
                    </a:ext>
                  </a:extLst>
                </a:gridCol>
                <a:gridCol w="912104">
                  <a:extLst>
                    <a:ext uri="{9D8B030D-6E8A-4147-A177-3AD203B41FA5}">
                      <a16:colId xmlns:a16="http://schemas.microsoft.com/office/drawing/2014/main" val="1091963561"/>
                    </a:ext>
                  </a:extLst>
                </a:gridCol>
              </a:tblGrid>
              <a:tr h="66278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9531152"/>
                  </a:ext>
                </a:extLst>
              </a:tr>
              <a:tr h="66278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7209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8D0B6BC-D252-60EE-4B95-BB7B1783B313}"/>
              </a:ext>
            </a:extLst>
          </p:cNvPr>
          <p:cNvGraphicFramePr>
            <a:graphicFrameLocks noGrp="1"/>
          </p:cNvGraphicFramePr>
          <p:nvPr/>
        </p:nvGraphicFramePr>
        <p:xfrm>
          <a:off x="8420961" y="2382406"/>
          <a:ext cx="2736312" cy="1325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2104">
                  <a:extLst>
                    <a:ext uri="{9D8B030D-6E8A-4147-A177-3AD203B41FA5}">
                      <a16:colId xmlns:a16="http://schemas.microsoft.com/office/drawing/2014/main" val="1819223276"/>
                    </a:ext>
                  </a:extLst>
                </a:gridCol>
                <a:gridCol w="912104">
                  <a:extLst>
                    <a:ext uri="{9D8B030D-6E8A-4147-A177-3AD203B41FA5}">
                      <a16:colId xmlns:a16="http://schemas.microsoft.com/office/drawing/2014/main" val="2721200926"/>
                    </a:ext>
                  </a:extLst>
                </a:gridCol>
                <a:gridCol w="912104">
                  <a:extLst>
                    <a:ext uri="{9D8B030D-6E8A-4147-A177-3AD203B41FA5}">
                      <a16:colId xmlns:a16="http://schemas.microsoft.com/office/drawing/2014/main" val="1091963561"/>
                    </a:ext>
                  </a:extLst>
                </a:gridCol>
              </a:tblGrid>
              <a:tr h="66278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9531152"/>
                  </a:ext>
                </a:extLst>
              </a:tr>
              <a:tr h="66278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720900"/>
                  </a:ext>
                </a:extLst>
              </a:tr>
            </a:tbl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D87777F-06F2-8968-8478-7993086ACA53}"/>
              </a:ext>
            </a:extLst>
          </p:cNvPr>
          <p:cNvCxnSpPr/>
          <p:nvPr/>
        </p:nvCxnSpPr>
        <p:spPr>
          <a:xfrm flipV="1">
            <a:off x="7741618" y="2355742"/>
            <a:ext cx="627467" cy="16009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CEAD5F5-32AF-7BBC-C595-957937F23A95}"/>
              </a:ext>
            </a:extLst>
          </p:cNvPr>
          <p:cNvCxnSpPr>
            <a:cxnSpLocks/>
          </p:cNvCxnSpPr>
          <p:nvPr/>
        </p:nvCxnSpPr>
        <p:spPr>
          <a:xfrm flipV="1">
            <a:off x="10477930" y="2355742"/>
            <a:ext cx="679343" cy="16276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2D71B38-EC2A-1B18-B1DB-1684D5640253}"/>
              </a:ext>
            </a:extLst>
          </p:cNvPr>
          <p:cNvCxnSpPr/>
          <p:nvPr/>
        </p:nvCxnSpPr>
        <p:spPr>
          <a:xfrm flipV="1">
            <a:off x="9584409" y="2382406"/>
            <a:ext cx="627467" cy="16009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0488EFB-E207-BFCD-DB28-35973AB4082E}"/>
              </a:ext>
            </a:extLst>
          </p:cNvPr>
          <p:cNvCxnSpPr/>
          <p:nvPr/>
        </p:nvCxnSpPr>
        <p:spPr>
          <a:xfrm flipV="1">
            <a:off x="8687015" y="2359617"/>
            <a:ext cx="627467" cy="16009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2BDF4B98-B07F-BD37-FA7A-595E57EAA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1618" y="5740172"/>
            <a:ext cx="38735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309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72C05-4F6F-0855-5169-9D7774053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Addition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8F4640-1C5F-49DF-F41C-4EDC6D2BF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008" y="1690688"/>
            <a:ext cx="3708400" cy="1397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1723E8-356A-B523-A2FA-721765DE34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5285" y="1690688"/>
            <a:ext cx="5156200" cy="1397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77BD68-4304-2CE9-29A2-2FEEE24BE6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9073" y="3409656"/>
            <a:ext cx="7676322" cy="335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050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7F2EBE5-7056-EF46-A3AC-818BF3FE4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99361"/>
            <a:ext cx="10091252" cy="371232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CA5771D-A221-3547-F884-05B687C45CEC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Vector Addition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823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9C85B-1F6D-1706-B0F3-C3D2C554C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Subtraction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967685-5B73-9757-1E85-FDD27CF4E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298" y="1825625"/>
            <a:ext cx="10281403" cy="388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6597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D2DB6-9BF9-1E2D-2A77-9C6106138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Array/Vector Multiplication with Scalar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90D9001-DEE8-3A4D-7E94-1A1C6F8209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55290"/>
          <a:stretch/>
        </p:blipFill>
        <p:spPr>
          <a:xfrm>
            <a:off x="1108765" y="1690688"/>
            <a:ext cx="9550400" cy="1612582"/>
          </a:xfrm>
          <a:prstGeom prst="rect">
            <a:avLst/>
          </a:prstGeom>
        </p:spPr>
      </p:pic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F02CAB52-138B-3DD1-1793-CF0C247627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407" r="83166"/>
          <a:stretch/>
        </p:blipFill>
        <p:spPr>
          <a:xfrm>
            <a:off x="1190735" y="3306444"/>
            <a:ext cx="1607765" cy="1860868"/>
          </a:xfrm>
          <a:prstGeom prst="rect">
            <a:avLst/>
          </a:prstGeom>
        </p:spPr>
      </p:pic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8AAFB0ED-98F9-AECD-7818-E186A08588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715" t="48407"/>
          <a:stretch/>
        </p:blipFill>
        <p:spPr>
          <a:xfrm>
            <a:off x="2880470" y="3303270"/>
            <a:ext cx="7954065" cy="18608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89D94F-C483-16B8-FBA5-9DD4A68D9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216" y="1771902"/>
            <a:ext cx="4284494" cy="356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482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AB1BA-7A56-021C-0261-14B65A3A9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Array/Vector Multiplication with Scalar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B96E0E0-9B53-9355-C396-C1F3EB3D29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1800" y="1981994"/>
            <a:ext cx="878840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1667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E312F-21AE-C738-C800-555CDE667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0" y="272048"/>
            <a:ext cx="4303643" cy="1325563"/>
          </a:xfrm>
        </p:spPr>
        <p:txBody>
          <a:bodyPr/>
          <a:lstStyle/>
          <a:p>
            <a:r>
              <a:rPr lang="en-US" dirty="0"/>
              <a:t>Product of two Arrays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C52EB4E-FADC-768C-51B5-8B487316CA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6044002"/>
              </p:ext>
            </p:extLst>
          </p:nvPr>
        </p:nvGraphicFramePr>
        <p:xfrm>
          <a:off x="1908313" y="304800"/>
          <a:ext cx="8075543" cy="25856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E4D7E59-4731-1FCF-05D2-51F5151D6204}"/>
              </a:ext>
            </a:extLst>
          </p:cNvPr>
          <p:cNvSpPr txBox="1"/>
          <p:nvPr/>
        </p:nvSpPr>
        <p:spPr>
          <a:xfrm>
            <a:off x="2756454" y="3008243"/>
            <a:ext cx="1232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u </a:t>
            </a:r>
            <a:r>
              <a:rPr lang="en-US" sz="3200" dirty="0"/>
              <a:t>o</a:t>
            </a:r>
            <a:r>
              <a:rPr lang="en-US" sz="3200" b="1" dirty="0"/>
              <a:t> v</a:t>
            </a:r>
            <a:endParaRPr 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579626-B875-138A-0CA3-9CDE5EE85F28}"/>
              </a:ext>
            </a:extLst>
          </p:cNvPr>
          <p:cNvSpPr txBox="1"/>
          <p:nvPr/>
        </p:nvSpPr>
        <p:spPr>
          <a:xfrm>
            <a:off x="5453272" y="3008242"/>
            <a:ext cx="1232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u </a:t>
            </a:r>
            <a:r>
              <a:rPr lang="en-US" sz="3200" dirty="0"/>
              <a:t>.</a:t>
            </a:r>
            <a:r>
              <a:rPr lang="en-US" sz="3200" b="1" dirty="0"/>
              <a:t> v</a:t>
            </a:r>
            <a:endParaRPr lang="en-US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9D5E1D-9780-2EC5-DE67-99E19F223A5E}"/>
              </a:ext>
            </a:extLst>
          </p:cNvPr>
          <p:cNvSpPr txBox="1"/>
          <p:nvPr/>
        </p:nvSpPr>
        <p:spPr>
          <a:xfrm>
            <a:off x="8150090" y="3008242"/>
            <a:ext cx="1232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u </a:t>
            </a:r>
            <a:r>
              <a:rPr lang="en-US" sz="3200" dirty="0"/>
              <a:t>x</a:t>
            </a:r>
            <a:r>
              <a:rPr lang="en-US" sz="3200" b="1" dirty="0"/>
              <a:t> v</a:t>
            </a:r>
            <a:endParaRPr lang="en-US" sz="2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28A947-9A66-8F02-4441-A43CF263473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28858"/>
          <a:stretch/>
        </p:blipFill>
        <p:spPr>
          <a:xfrm>
            <a:off x="390113" y="3593017"/>
            <a:ext cx="4176090" cy="26975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88C5A3-4A96-3206-3098-355DF401B9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0235" y="3931002"/>
            <a:ext cx="5132294" cy="235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58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C2BAC-228F-27FC-6856-899F98468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5020"/>
            <a:ext cx="10515600" cy="1325563"/>
          </a:xfrm>
        </p:spPr>
        <p:txBody>
          <a:bodyPr/>
          <a:lstStyle/>
          <a:p>
            <a:r>
              <a:rPr lang="en-US" dirty="0"/>
              <a:t>Hadamard Product (*)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102EA33-D820-D533-B8B0-58224F9877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1900" y="1245233"/>
            <a:ext cx="9728200" cy="4038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6F87C5-B611-01AC-A5B3-5BF52521AD94}"/>
              </a:ext>
            </a:extLst>
          </p:cNvPr>
          <p:cNvSpPr txBox="1"/>
          <p:nvPr/>
        </p:nvSpPr>
        <p:spPr>
          <a:xfrm>
            <a:off x="1231900" y="4591335"/>
            <a:ext cx="609858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 =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np.array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([[1, 2, 3],[3,4,6]])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 =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np.array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([[4, 5, 6],[2,7,8]])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prstClr val="black"/>
                </a:solidFill>
                <a:latin typeface="Calibri" panose="020F0502020204030204"/>
              </a:rPr>
              <a:t>z = u *v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2A3BA9-0EA7-3895-AB2A-6043E4D94D78}"/>
              </a:ext>
            </a:extLst>
          </p:cNvPr>
          <p:cNvSpPr txBox="1"/>
          <p:nvPr/>
        </p:nvSpPr>
        <p:spPr>
          <a:xfrm>
            <a:off x="6808707" y="5453110"/>
            <a:ext cx="60985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Z:array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([4,10,18],[6,28,48])</a:t>
            </a:r>
          </a:p>
        </p:txBody>
      </p:sp>
    </p:spTree>
    <p:extLst>
      <p:ext uri="{BB962C8B-B14F-4D97-AF65-F5344CB8AC3E}">
        <p14:creationId xmlns:p14="http://schemas.microsoft.com/office/powerpoint/2010/main" val="343062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539A1-F358-AAF1-FDBE-89A2C2B10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Dot Product (@)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5E51AAC-0674-FC8E-2F0C-3C46C5013F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2254" y="1690688"/>
            <a:ext cx="3721100" cy="4038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714C2C-1847-7FEA-A2A8-B536695B2949}"/>
              </a:ext>
            </a:extLst>
          </p:cNvPr>
          <p:cNvSpPr txBox="1"/>
          <p:nvPr/>
        </p:nvSpPr>
        <p:spPr>
          <a:xfrm>
            <a:off x="4419813" y="1599228"/>
            <a:ext cx="687480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import </a:t>
            </a:r>
            <a:r>
              <a:rPr lang="en-US" sz="2400" dirty="0" err="1"/>
              <a:t>numpy</a:t>
            </a:r>
            <a:r>
              <a:rPr lang="en-US" sz="2400" dirty="0"/>
              <a:t> as np</a:t>
            </a:r>
          </a:p>
          <a:p>
            <a:endParaRPr lang="en-US" sz="2400" dirty="0"/>
          </a:p>
          <a:p>
            <a:r>
              <a:rPr lang="en-US" sz="2400" dirty="0"/>
              <a:t># Dot Product</a:t>
            </a:r>
          </a:p>
          <a:p>
            <a:r>
              <a:rPr lang="en-US" sz="2400" dirty="0"/>
              <a:t>u = </a:t>
            </a:r>
            <a:r>
              <a:rPr lang="en-US" sz="2400" dirty="0" err="1"/>
              <a:t>np.array</a:t>
            </a:r>
            <a:r>
              <a:rPr lang="en-US" sz="2400" dirty="0"/>
              <a:t>([1, 2, 3])</a:t>
            </a:r>
          </a:p>
          <a:p>
            <a:r>
              <a:rPr lang="en-US" sz="2400" dirty="0"/>
              <a:t>v = </a:t>
            </a:r>
            <a:r>
              <a:rPr lang="en-US" sz="2400" dirty="0" err="1"/>
              <a:t>np.array</a:t>
            </a:r>
            <a:r>
              <a:rPr lang="en-US" sz="2400" dirty="0"/>
              <a:t>([4, 5, 6])</a:t>
            </a:r>
          </a:p>
          <a:p>
            <a:r>
              <a:rPr lang="en-US" sz="2400" dirty="0"/>
              <a:t> </a:t>
            </a:r>
            <a:r>
              <a:rPr lang="en-US" sz="2400" dirty="0" err="1"/>
              <a:t>dot_product</a:t>
            </a:r>
            <a:r>
              <a:rPr lang="en-US" sz="2400" dirty="0"/>
              <a:t>  = u @ v</a:t>
            </a:r>
          </a:p>
          <a:p>
            <a:r>
              <a:rPr lang="en-US" sz="2400" dirty="0"/>
              <a:t>print(”Dot Product:", </a:t>
            </a:r>
            <a:r>
              <a:rPr lang="en-US" sz="2400" dirty="0" err="1"/>
              <a:t>dot_product</a:t>
            </a:r>
            <a:r>
              <a:rPr lang="en-US" sz="2400" dirty="0"/>
              <a:t>)</a:t>
            </a:r>
          </a:p>
          <a:p>
            <a:endParaRPr lang="en-US" sz="2400" dirty="0"/>
          </a:p>
          <a:p>
            <a:r>
              <a:rPr lang="en-US" sz="2400" dirty="0"/>
              <a:t># Matrix Multiplication</a:t>
            </a:r>
          </a:p>
          <a:p>
            <a:r>
              <a:rPr lang="en-US" sz="2400" dirty="0"/>
              <a:t>A = </a:t>
            </a:r>
            <a:r>
              <a:rPr lang="en-US" sz="2400" dirty="0" err="1"/>
              <a:t>np.array</a:t>
            </a:r>
            <a:r>
              <a:rPr lang="en-US" sz="2400" dirty="0"/>
              <a:t>([[1, 2], [3, 4]])</a:t>
            </a:r>
          </a:p>
          <a:p>
            <a:r>
              <a:rPr lang="en-US" sz="2400" dirty="0"/>
              <a:t>B = </a:t>
            </a:r>
            <a:r>
              <a:rPr lang="en-US" sz="2400" dirty="0" err="1"/>
              <a:t>np.array</a:t>
            </a:r>
            <a:r>
              <a:rPr lang="en-US" sz="2400" dirty="0"/>
              <a:t>([[5, 6], [7, 8]])</a:t>
            </a:r>
          </a:p>
          <a:p>
            <a:r>
              <a:rPr lang="en-US" sz="2400" dirty="0" err="1"/>
              <a:t>matrix_product</a:t>
            </a:r>
            <a:r>
              <a:rPr lang="en-US" sz="2400" dirty="0"/>
              <a:t> = </a:t>
            </a:r>
            <a:r>
              <a:rPr lang="en-US" sz="2400" dirty="0" err="1"/>
              <a:t>np.dot</a:t>
            </a:r>
            <a:r>
              <a:rPr lang="en-US" sz="2400" dirty="0"/>
              <a:t>(A, B)</a:t>
            </a:r>
          </a:p>
          <a:p>
            <a:r>
              <a:rPr lang="en-US" sz="2400" dirty="0"/>
              <a:t>print("Matrix Multiplication:\n", </a:t>
            </a:r>
            <a:r>
              <a:rPr lang="en-US" sz="2400" dirty="0" err="1"/>
              <a:t>matrix_product</a:t>
            </a:r>
            <a:r>
              <a:rPr lang="en-US" sz="2400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6EBD5F-F822-BD9B-28B0-D14A8B9F69C9}"/>
              </a:ext>
            </a:extLst>
          </p:cNvPr>
          <p:cNvSpPr txBox="1"/>
          <p:nvPr/>
        </p:nvSpPr>
        <p:spPr>
          <a:xfrm>
            <a:off x="8787676" y="2588728"/>
            <a:ext cx="6098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Dot Product: 32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74A350-2384-8B1F-78C6-01BD2527EC3F}"/>
              </a:ext>
            </a:extLst>
          </p:cNvPr>
          <p:cNvSpPr txBox="1"/>
          <p:nvPr/>
        </p:nvSpPr>
        <p:spPr>
          <a:xfrm>
            <a:off x="8330840" y="4566274"/>
            <a:ext cx="741235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 Multiplication: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[[19 22]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[43 50]]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1948DB-6AA7-1FC1-3EA4-9685B2E3C460}"/>
              </a:ext>
            </a:extLst>
          </p:cNvPr>
          <p:cNvSpPr txBox="1"/>
          <p:nvPr/>
        </p:nvSpPr>
        <p:spPr>
          <a:xfrm>
            <a:off x="562613" y="5280084"/>
            <a:ext cx="8074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2</a:t>
            </a:r>
          </a:p>
          <a:p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3  4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8C46F3-5573-1497-E6F5-0AC8B1AAC597}"/>
              </a:ext>
            </a:extLst>
          </p:cNvPr>
          <p:cNvSpPr txBox="1"/>
          <p:nvPr/>
        </p:nvSpPr>
        <p:spPr>
          <a:xfrm>
            <a:off x="1395366" y="5280083"/>
            <a:ext cx="8074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7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8</a:t>
            </a:r>
            <a:endParaRPr lang="en-US" dirty="0"/>
          </a:p>
        </p:txBody>
      </p:sp>
      <p:sp>
        <p:nvSpPr>
          <p:cNvPr id="10" name="Double Bracket 9">
            <a:extLst>
              <a:ext uri="{FF2B5EF4-FFF2-40B4-BE49-F238E27FC236}">
                <a16:creationId xmlns:a16="http://schemas.microsoft.com/office/drawing/2014/main" id="{2475E869-BB3B-B583-A2EE-69BF9F74729C}"/>
              </a:ext>
            </a:extLst>
          </p:cNvPr>
          <p:cNvSpPr/>
          <p:nvPr/>
        </p:nvSpPr>
        <p:spPr>
          <a:xfrm>
            <a:off x="472060" y="5143017"/>
            <a:ext cx="781777" cy="1105128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ouble Bracket 10">
            <a:extLst>
              <a:ext uri="{FF2B5EF4-FFF2-40B4-BE49-F238E27FC236}">
                <a16:creationId xmlns:a16="http://schemas.microsoft.com/office/drawing/2014/main" id="{519F67E8-586C-A4C9-27D2-F74147DA2DEF}"/>
              </a:ext>
            </a:extLst>
          </p:cNvPr>
          <p:cNvSpPr/>
          <p:nvPr/>
        </p:nvSpPr>
        <p:spPr>
          <a:xfrm>
            <a:off x="1369576" y="5143017"/>
            <a:ext cx="781777" cy="1105128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uble Bracket 11">
            <a:extLst>
              <a:ext uri="{FF2B5EF4-FFF2-40B4-BE49-F238E27FC236}">
                <a16:creationId xmlns:a16="http://schemas.microsoft.com/office/drawing/2014/main" id="{EFB7CEEE-1BCF-FFBA-4569-AC3D709C080A}"/>
              </a:ext>
            </a:extLst>
          </p:cNvPr>
          <p:cNvSpPr/>
          <p:nvPr/>
        </p:nvSpPr>
        <p:spPr>
          <a:xfrm>
            <a:off x="2602089" y="5136235"/>
            <a:ext cx="1036422" cy="1105128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8F2055-46EC-D5D4-DAC5-FE7A33FC6942}"/>
              </a:ext>
            </a:extLst>
          </p:cNvPr>
          <p:cNvSpPr txBox="1"/>
          <p:nvPr/>
        </p:nvSpPr>
        <p:spPr>
          <a:xfrm>
            <a:off x="2670685" y="5313789"/>
            <a:ext cx="9678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22</a:t>
            </a:r>
          </a:p>
          <a:p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43  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50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4434DA-E96E-3800-ADC5-0BDA3FF28570}"/>
              </a:ext>
            </a:extLst>
          </p:cNvPr>
          <p:cNvSpPr txBox="1"/>
          <p:nvPr/>
        </p:nvSpPr>
        <p:spPr>
          <a:xfrm>
            <a:off x="8421393" y="1140139"/>
            <a:ext cx="3662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  <a:p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</a:t>
            </a:r>
            <a:endParaRPr lang="en-US" dirty="0"/>
          </a:p>
        </p:txBody>
      </p:sp>
      <p:sp>
        <p:nvSpPr>
          <p:cNvPr id="15" name="Double Bracket 14">
            <a:extLst>
              <a:ext uri="{FF2B5EF4-FFF2-40B4-BE49-F238E27FC236}">
                <a16:creationId xmlns:a16="http://schemas.microsoft.com/office/drawing/2014/main" id="{9F31F1C0-A930-EE2D-B094-12297F9CB3F8}"/>
              </a:ext>
            </a:extLst>
          </p:cNvPr>
          <p:cNvSpPr/>
          <p:nvPr/>
        </p:nvSpPr>
        <p:spPr>
          <a:xfrm>
            <a:off x="8213645" y="1282770"/>
            <a:ext cx="781777" cy="1105128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C4EB96-DCCA-2B86-4931-264D1ECDE861}"/>
              </a:ext>
            </a:extLst>
          </p:cNvPr>
          <p:cNvSpPr txBox="1"/>
          <p:nvPr/>
        </p:nvSpPr>
        <p:spPr>
          <a:xfrm>
            <a:off x="9454060" y="1477283"/>
            <a:ext cx="12260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</a:t>
            </a:r>
            <a:endParaRPr lang="en-US" dirty="0"/>
          </a:p>
        </p:txBody>
      </p:sp>
      <p:sp>
        <p:nvSpPr>
          <p:cNvPr id="17" name="Double Bracket 16">
            <a:extLst>
              <a:ext uri="{FF2B5EF4-FFF2-40B4-BE49-F238E27FC236}">
                <a16:creationId xmlns:a16="http://schemas.microsoft.com/office/drawing/2014/main" id="{F35A9702-100F-92AF-3D41-82750A311836}"/>
              </a:ext>
            </a:extLst>
          </p:cNvPr>
          <p:cNvSpPr/>
          <p:nvPr/>
        </p:nvSpPr>
        <p:spPr>
          <a:xfrm>
            <a:off x="9302565" y="1235340"/>
            <a:ext cx="781777" cy="1105128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847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 animBg="1"/>
      <p:bldP spid="11" grpId="0" animBg="1"/>
      <p:bldP spid="12" grpId="0" animBg="1"/>
      <p:bldP spid="1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6F6C7-A453-6D8A-B61C-7C7839537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Product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6DFD70-82B4-9DF6-2FAD-102D219AEB6A}"/>
              </a:ext>
            </a:extLst>
          </p:cNvPr>
          <p:cNvSpPr txBox="1"/>
          <p:nvPr/>
        </p:nvSpPr>
        <p:spPr>
          <a:xfrm>
            <a:off x="838200" y="3265460"/>
            <a:ext cx="687480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import </a:t>
            </a:r>
            <a:r>
              <a:rPr lang="en-US" sz="2400" dirty="0" err="1"/>
              <a:t>numpy</a:t>
            </a:r>
            <a:r>
              <a:rPr lang="en-US" sz="2400" dirty="0"/>
              <a:t> as np</a:t>
            </a:r>
          </a:p>
          <a:p>
            <a:endParaRPr lang="en-US" sz="2400" dirty="0"/>
          </a:p>
          <a:p>
            <a:r>
              <a:rPr lang="en-US" sz="2400" dirty="0"/>
              <a:t># Cross Product</a:t>
            </a:r>
          </a:p>
          <a:p>
            <a:r>
              <a:rPr lang="en-US" sz="2400" dirty="0"/>
              <a:t>u = </a:t>
            </a:r>
            <a:r>
              <a:rPr lang="en-US" sz="2400" dirty="0" err="1"/>
              <a:t>np.array</a:t>
            </a:r>
            <a:r>
              <a:rPr lang="en-US" sz="2400" dirty="0"/>
              <a:t>([1, 2, 3])</a:t>
            </a:r>
          </a:p>
          <a:p>
            <a:r>
              <a:rPr lang="en-US" sz="2400" dirty="0"/>
              <a:t>v = </a:t>
            </a:r>
            <a:r>
              <a:rPr lang="en-US" sz="2400" dirty="0" err="1"/>
              <a:t>np.array</a:t>
            </a:r>
            <a:r>
              <a:rPr lang="en-US" sz="2400" dirty="0"/>
              <a:t>([4, 5, 6])</a:t>
            </a:r>
          </a:p>
          <a:p>
            <a:r>
              <a:rPr lang="en-US" sz="2400" dirty="0" err="1"/>
              <a:t>cross_product</a:t>
            </a:r>
            <a:r>
              <a:rPr lang="en-US" sz="2400" dirty="0"/>
              <a:t> = </a:t>
            </a:r>
            <a:r>
              <a:rPr lang="en-US" sz="2400" dirty="0" err="1"/>
              <a:t>np.cross</a:t>
            </a:r>
            <a:r>
              <a:rPr lang="en-US" sz="2400" dirty="0"/>
              <a:t>(u, v)</a:t>
            </a:r>
          </a:p>
          <a:p>
            <a:r>
              <a:rPr lang="en-US" sz="2400" dirty="0"/>
              <a:t>print("Cross Product:", </a:t>
            </a:r>
            <a:r>
              <a:rPr lang="en-US" sz="2400" dirty="0" err="1"/>
              <a:t>cross_product</a:t>
            </a:r>
            <a:r>
              <a:rPr lang="en-US" sz="2400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D9B1ED-996E-EA6E-96A8-54DDE4C4ED80}"/>
              </a:ext>
            </a:extLst>
          </p:cNvPr>
          <p:cNvSpPr txBox="1"/>
          <p:nvPr/>
        </p:nvSpPr>
        <p:spPr>
          <a:xfrm>
            <a:off x="6415480" y="3768380"/>
            <a:ext cx="6098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Cross Product: [-3  6 -3]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4A956-FD3D-78A8-F6D8-7CA4E924B33A}"/>
              </a:ext>
            </a:extLst>
          </p:cNvPr>
          <p:cNvSpPr txBox="1"/>
          <p:nvPr/>
        </p:nvSpPr>
        <p:spPr>
          <a:xfrm>
            <a:off x="6418954" y="4414711"/>
            <a:ext cx="479723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Only works for vectors in 3D or higher-dimensional spaces where vector fields exist.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6D1BE9-B0E6-BC69-A841-52F863157FA1}"/>
              </a:ext>
            </a:extLst>
          </p:cNvPr>
          <p:cNvSpPr txBox="1"/>
          <p:nvPr/>
        </p:nvSpPr>
        <p:spPr>
          <a:xfrm>
            <a:off x="838200" y="1513091"/>
            <a:ext cx="39166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Binary operation on two vectors in three-dimensional space, resulting in another vector that is perpendicular to both of the input vectors.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11A288-3FF1-3F11-8802-E4787A96F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13451"/>
            <a:ext cx="4229221" cy="156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734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A0D46-EBBB-426B-9527-B1C903BC4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Broadcasting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3BA99-A914-EC63-C453-459FA674B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NumPy – All operations follow implicit element by element </a:t>
            </a:r>
            <a:r>
              <a:rPr lang="en-US" dirty="0" err="1"/>
              <a:t>behaviour</a:t>
            </a:r>
            <a:endParaRPr lang="en-US" dirty="0"/>
          </a:p>
          <a:p>
            <a:r>
              <a:rPr lang="en-US" dirty="0"/>
              <a:t>What about arrays having different shapes or operation between an array and a scalar?</a:t>
            </a:r>
          </a:p>
          <a:p>
            <a:r>
              <a:rPr lang="en-US" dirty="0"/>
              <a:t>Broadcasting - Smaller array is “broadcast” across the larger array so that they have compatible shapes.</a:t>
            </a:r>
          </a:p>
          <a:p>
            <a:pPr lvl="1"/>
            <a:r>
              <a:rPr lang="en-US" dirty="0"/>
              <a:t>Means of vectorizing array operations so that looping occurs in C instead of Python.</a:t>
            </a:r>
          </a:p>
          <a:p>
            <a:pPr lvl="1"/>
            <a:r>
              <a:rPr lang="en-US" dirty="0"/>
              <a:t>Sometimes, a bad idea because it leads to inefficient use of memory that slows computation.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066B42-93D2-6F5B-68DD-2936F6BF3EE5}"/>
              </a:ext>
            </a:extLst>
          </p:cNvPr>
          <p:cNvSpPr txBox="1"/>
          <p:nvPr/>
        </p:nvSpPr>
        <p:spPr>
          <a:xfrm>
            <a:off x="1139666" y="5702082"/>
            <a:ext cx="10515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</a:rPr>
              <a:t>Broadcasting - Perform operations on arrays of different shapes without explicitly reshaping them and without explicit Python loops</a:t>
            </a:r>
          </a:p>
        </p:txBody>
      </p:sp>
    </p:spTree>
    <p:extLst>
      <p:ext uri="{BB962C8B-B14F-4D97-AF65-F5344CB8AC3E}">
        <p14:creationId xmlns:p14="http://schemas.microsoft.com/office/powerpoint/2010/main" val="234763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21A80-029B-EFCE-ADDE-1691F67AB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Same shape</a:t>
            </a:r>
          </a:p>
        </p:txBody>
      </p:sp>
      <p:pic>
        <p:nvPicPr>
          <p:cNvPr id="3074" name="Picture 2" descr="A scalar is broadcast to match the shape of the 1-d array it is being multiplied to.">
            <a:extLst>
              <a:ext uri="{FF2B5EF4-FFF2-40B4-BE49-F238E27FC236}">
                <a16:creationId xmlns:a16="http://schemas.microsoft.com/office/drawing/2014/main" id="{A086730C-A481-D120-E177-7255828327C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9582" y="3567578"/>
            <a:ext cx="5839159" cy="2155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0B1F6C-07C4-87F3-81AB-34ED86435E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555"/>
          <a:stretch/>
        </p:blipFill>
        <p:spPr>
          <a:xfrm>
            <a:off x="697119" y="1408836"/>
            <a:ext cx="4724893" cy="215599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BC4638BC-39BB-122C-9540-9E4AE2E4DA18}"/>
              </a:ext>
            </a:extLst>
          </p:cNvPr>
          <p:cNvSpPr txBox="1">
            <a:spLocks/>
          </p:cNvSpPr>
          <p:nvPr/>
        </p:nvSpPr>
        <p:spPr>
          <a:xfrm>
            <a:off x="7117245" y="380308"/>
            <a:ext cx="318383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 Narrow" panose="020B0604020202020204" pitchFamily="34" charset="0"/>
                <a:cs typeface="Arial Narrow" panose="020B0604020202020204" pitchFamily="34" charset="0"/>
              </a:rPr>
              <a:t>Array and Scalar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67B13F3-8D88-892D-56F1-85E436981C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6647"/>
          <a:stretch/>
        </p:blipFill>
        <p:spPr>
          <a:xfrm>
            <a:off x="6534224" y="1408836"/>
            <a:ext cx="4349876" cy="215599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9E26C06-35BB-277C-2B20-9CB05D36554E}"/>
              </a:ext>
            </a:extLst>
          </p:cNvPr>
          <p:cNvSpPr txBox="1"/>
          <p:nvPr/>
        </p:nvSpPr>
        <p:spPr>
          <a:xfrm>
            <a:off x="5327371" y="5813719"/>
            <a:ext cx="68273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i="1" dirty="0">
                <a:solidFill>
                  <a:srgbClr val="C00000"/>
                </a:solidFill>
              </a:rPr>
              <a:t>More efficient than that in the first because broadcasting moves less memory around during the multiplication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ED0BB-CB87-B926-04D3-C2DCED857A7C}"/>
              </a:ext>
            </a:extLst>
          </p:cNvPr>
          <p:cNvSpPr txBox="1"/>
          <p:nvPr/>
        </p:nvSpPr>
        <p:spPr>
          <a:xfrm>
            <a:off x="838199" y="3722246"/>
            <a:ext cx="370280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array([2., 4., 6.]) </a:t>
            </a:r>
          </a:p>
          <a:p>
            <a:br>
              <a:rPr lang="en-US" sz="2800" dirty="0">
                <a:solidFill>
                  <a:srgbClr val="FF0000"/>
                </a:solidFill>
              </a:rPr>
            </a:br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4590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B1D6B-91B6-AE50-78BB-0E53E0CEA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Broadcasting Works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21493-FBE3-E5CC-0F7F-DAFFE954A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9071"/>
            <a:ext cx="10515600" cy="4351338"/>
          </a:xfrm>
        </p:spPr>
        <p:txBody>
          <a:bodyPr/>
          <a:lstStyle/>
          <a:p>
            <a:pPr algn="just"/>
            <a:r>
              <a:rPr lang="en-US" dirty="0"/>
              <a:t>Broadcasting works by </a:t>
            </a:r>
            <a:r>
              <a:rPr lang="en-US" b="1" dirty="0"/>
              <a:t>expanding the smaller array</a:t>
            </a:r>
            <a:r>
              <a:rPr lang="en-US" dirty="0"/>
              <a:t> to match the shape of the larger array without actually copying the data. NumPy follows specific rules to do this: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Rule 1</a:t>
            </a:r>
            <a:r>
              <a:rPr lang="en-US" dirty="0"/>
              <a:t>: If the arrays differ in the number of dimensions, </a:t>
            </a:r>
            <a:r>
              <a:rPr lang="en-US" b="1" dirty="0"/>
              <a:t>prepend 1s</a:t>
            </a:r>
            <a:r>
              <a:rPr lang="en-US" dirty="0"/>
              <a:t> to the shape of the smaller array.</a:t>
            </a:r>
          </a:p>
          <a:p>
            <a:pPr algn="just">
              <a:buFont typeface="+mj-lt"/>
              <a:buAutoNum type="arabicPeriod"/>
            </a:pPr>
            <a:r>
              <a:rPr lang="en-US" b="1" dirty="0"/>
              <a:t>Rule 2</a:t>
            </a:r>
            <a:r>
              <a:rPr lang="en-US" dirty="0"/>
              <a:t>: If the shape of the arrays does not match in a dimension: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US" dirty="0"/>
              <a:t>One of them must be 1, in which case it is </a:t>
            </a:r>
            <a:r>
              <a:rPr lang="en-US" b="1" dirty="0"/>
              <a:t>stretched</a:t>
            </a:r>
            <a:r>
              <a:rPr lang="en-US" dirty="0"/>
              <a:t> to match the other shape.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US" dirty="0"/>
              <a:t>Otherwise, broadcasting is </a:t>
            </a:r>
            <a:r>
              <a:rPr lang="en-US" b="1" dirty="0"/>
              <a:t>not possible</a:t>
            </a:r>
            <a:r>
              <a:rPr lang="en-US" dirty="0"/>
              <a:t>, and an error is raised.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8330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8C96DFC-221A-B6E6-B794-DF50AD3A1C0A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just" fontAlgn="base">
              <a:buFont typeface="+mj-lt"/>
              <a:buAutoNum type="arabicPeriod"/>
            </a:pPr>
            <a:r>
              <a:rPr lang="en-US" dirty="0">
                <a:latin typeface="-apple-system"/>
              </a:rPr>
              <a:t>When operating on two arrays, NumPy compares their shapes element-wise. It starts with the trailing (i.e. rightmost) dimension and works its way left. Two dimensions are compatible when:</a:t>
            </a:r>
          </a:p>
          <a:p>
            <a:pPr marL="971550" lvl="1" indent="-514350" algn="just" fontAlgn="base">
              <a:buFont typeface="+mj-lt"/>
              <a:buAutoNum type="arabicPeriod"/>
            </a:pPr>
            <a:r>
              <a:rPr lang="en-US" dirty="0">
                <a:latin typeface="-apple-system"/>
              </a:rPr>
              <a:t>they are equal, or</a:t>
            </a:r>
          </a:p>
          <a:p>
            <a:pPr marL="971550" lvl="1" indent="-514350" algn="just" fontAlgn="base">
              <a:buFont typeface="+mj-lt"/>
              <a:buAutoNum type="arabicPeriod"/>
            </a:pPr>
            <a:r>
              <a:rPr lang="en-US" dirty="0">
                <a:latin typeface="-apple-system"/>
              </a:rPr>
              <a:t>one of them is 1.</a:t>
            </a:r>
          </a:p>
          <a:p>
            <a:pPr marL="514350" indent="-514350" algn="just" fontAlgn="base">
              <a:buFont typeface="+mj-lt"/>
              <a:buAutoNum type="arabicPeriod"/>
            </a:pPr>
            <a:endParaRPr lang="en-US" dirty="0">
              <a:latin typeface="-apple-system"/>
            </a:endParaRPr>
          </a:p>
          <a:p>
            <a:pPr marL="514350" indent="-514350" algn="just" fontAlgn="base">
              <a:buFont typeface="+mj-lt"/>
              <a:buAutoNum type="arabicPeriod"/>
            </a:pPr>
            <a:r>
              <a:rPr lang="en-US" dirty="0">
                <a:latin typeface="-apple-system"/>
              </a:rPr>
              <a:t>If these conditions are not met, a </a:t>
            </a:r>
            <a:r>
              <a:rPr lang="en-US" dirty="0" err="1">
                <a:latin typeface="-apple-system"/>
              </a:rPr>
              <a:t>ValueError</a:t>
            </a:r>
            <a:r>
              <a:rPr lang="en-US" dirty="0">
                <a:latin typeface="-apple-system"/>
              </a:rPr>
              <a:t>: operands could not be broadcast together exception is thrown, indicating that the arrays have incompatible shapes.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59DF022-079F-3559-D588-375CFAA32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Broadcasting Rules</a:t>
            </a:r>
          </a:p>
        </p:txBody>
      </p:sp>
    </p:spTree>
    <p:extLst>
      <p:ext uri="{BB962C8B-B14F-4D97-AF65-F5344CB8AC3E}">
        <p14:creationId xmlns:p14="http://schemas.microsoft.com/office/powerpoint/2010/main" val="3572410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C5F7B-BCB1-DEFE-B776-1C7D3CF58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87" y="528801"/>
            <a:ext cx="11422897" cy="1325563"/>
          </a:xfrm>
        </p:spPr>
        <p:txBody>
          <a:bodyPr>
            <a:noAutofit/>
          </a:bodyPr>
          <a:lstStyle/>
          <a:p>
            <a:r>
              <a:rPr lang="en-US" sz="2800" b="1" dirty="0"/>
              <a:t>Rule 1</a:t>
            </a:r>
            <a:r>
              <a:rPr lang="en-US" sz="2800" dirty="0"/>
              <a:t>: CHECK SHAPE: If the arrays differ in the number of dimensions, </a:t>
            </a:r>
            <a:r>
              <a:rPr lang="en-US" sz="2800" b="1" dirty="0"/>
              <a:t>prepend 1s</a:t>
            </a:r>
            <a:r>
              <a:rPr lang="en-US" sz="2800" dirty="0"/>
              <a:t> to the shape of the smaller array.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9373BD8-CF66-A796-B6D4-00A182B54C7B}"/>
              </a:ext>
            </a:extLst>
          </p:cNvPr>
          <p:cNvSpPr txBox="1">
            <a:spLocks/>
          </p:cNvSpPr>
          <p:nvPr/>
        </p:nvSpPr>
        <p:spPr>
          <a:xfrm>
            <a:off x="838200" y="2017282"/>
            <a:ext cx="5091430" cy="15916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-apple-system"/>
              </a:rPr>
              <a:t>arr1 = </a:t>
            </a:r>
            <a:r>
              <a:rPr lang="en-US" dirty="0" err="1">
                <a:latin typeface="-apple-system"/>
              </a:rPr>
              <a:t>np.array</a:t>
            </a:r>
            <a:r>
              <a:rPr lang="en-US" dirty="0">
                <a:latin typeface="-apple-system"/>
              </a:rPr>
              <a:t>([1, 2, 3]) </a:t>
            </a:r>
          </a:p>
          <a:p>
            <a:r>
              <a:rPr lang="en-US" dirty="0">
                <a:latin typeface="-apple-system"/>
              </a:rPr>
              <a:t>arr2 = </a:t>
            </a:r>
            <a:r>
              <a:rPr lang="en-US" dirty="0" err="1">
                <a:latin typeface="-apple-system"/>
              </a:rPr>
              <a:t>np.array</a:t>
            </a:r>
            <a:r>
              <a:rPr lang="en-US" dirty="0">
                <a:latin typeface="-apple-system"/>
              </a:rPr>
              <a:t>([[10], [20], [30]])        </a:t>
            </a:r>
          </a:p>
          <a:p>
            <a:r>
              <a:rPr lang="en-US" dirty="0">
                <a:latin typeface="-apple-system"/>
              </a:rPr>
              <a:t>result = arr1 + arr2</a:t>
            </a:r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F4FE814-D751-877A-BBC1-300150BA9585}"/>
              </a:ext>
            </a:extLst>
          </p:cNvPr>
          <p:cNvSpPr txBox="1">
            <a:spLocks/>
          </p:cNvSpPr>
          <p:nvPr/>
        </p:nvSpPr>
        <p:spPr>
          <a:xfrm>
            <a:off x="6666854" y="2065653"/>
            <a:ext cx="5091430" cy="15916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-apple-system"/>
              </a:rPr>
              <a:t>Arr1.shape = (3,)</a:t>
            </a:r>
          </a:p>
          <a:p>
            <a:r>
              <a:rPr lang="en-US" dirty="0">
                <a:latin typeface="-apple-system"/>
              </a:rPr>
              <a:t>Arr2.shape = (3,1)</a:t>
            </a:r>
          </a:p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CB9776F-50E6-027F-A8B6-911692B24594}"/>
              </a:ext>
            </a:extLst>
          </p:cNvPr>
          <p:cNvSpPr txBox="1">
            <a:spLocks/>
          </p:cNvSpPr>
          <p:nvPr/>
        </p:nvSpPr>
        <p:spPr>
          <a:xfrm>
            <a:off x="9714854" y="2065653"/>
            <a:ext cx="3280712" cy="632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-apple-system"/>
              </a:rPr>
              <a:t>&lt;-   Smaller</a:t>
            </a:r>
          </a:p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77059B1-61C8-58EB-A7ED-96D491810F96}"/>
              </a:ext>
            </a:extLst>
          </p:cNvPr>
          <p:cNvSpPr txBox="1">
            <a:spLocks/>
          </p:cNvSpPr>
          <p:nvPr/>
        </p:nvSpPr>
        <p:spPr>
          <a:xfrm>
            <a:off x="5397500" y="3428999"/>
            <a:ext cx="6580107" cy="632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-apple-system"/>
              </a:rPr>
              <a:t>Conceptually, Change arr1.shape to (1,3)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9C6FCA-8D7C-5684-BC87-85C0A4AFB670}"/>
              </a:ext>
            </a:extLst>
          </p:cNvPr>
          <p:cNvSpPr txBox="1"/>
          <p:nvPr/>
        </p:nvSpPr>
        <p:spPr>
          <a:xfrm>
            <a:off x="276505" y="4445004"/>
            <a:ext cx="6214820" cy="2325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the shape of the arrays does not match in a dimension:</a:t>
            </a:r>
          </a:p>
          <a:p>
            <a:pPr marL="914400" marR="0" lvl="1" indent="-457200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One of them must be 1, in which case it is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stretched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 match the other shape.</a:t>
            </a:r>
          </a:p>
          <a:p>
            <a:pPr marL="914400" marR="0" lvl="1" indent="-457200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Otherwise, broadcasting is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 possible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and an error is raised.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962E493-4274-AEBE-E809-242B2E1337C3}"/>
              </a:ext>
            </a:extLst>
          </p:cNvPr>
          <p:cNvSpPr txBox="1">
            <a:spLocks/>
          </p:cNvSpPr>
          <p:nvPr/>
        </p:nvSpPr>
        <p:spPr>
          <a:xfrm>
            <a:off x="7113840" y="4387763"/>
            <a:ext cx="4197458" cy="1377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-apple-system"/>
              </a:rPr>
              <a:t>Change arr1.shape to (3,3) and arr2.shape to (3,3)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588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D59327-6A8E-9FCD-D8F4-576D26F9EFFE}"/>
              </a:ext>
            </a:extLst>
          </p:cNvPr>
          <p:cNvSpPr txBox="1">
            <a:spLocks/>
          </p:cNvSpPr>
          <p:nvPr/>
        </p:nvSpPr>
        <p:spPr>
          <a:xfrm>
            <a:off x="838200" y="591438"/>
            <a:ext cx="5091430" cy="15916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333333"/>
                </a:solidFill>
                <a:latin typeface="-apple-system"/>
              </a:rPr>
              <a:t>arr1 = </a:t>
            </a:r>
            <a:r>
              <a:rPr lang="en-US" dirty="0" err="1">
                <a:solidFill>
                  <a:srgbClr val="333333"/>
                </a:solidFill>
                <a:latin typeface="-apple-system"/>
              </a:rPr>
              <a:t>np.array</a:t>
            </a:r>
            <a:r>
              <a:rPr lang="en-US" dirty="0">
                <a:solidFill>
                  <a:srgbClr val="333333"/>
                </a:solidFill>
                <a:latin typeface="-apple-system"/>
              </a:rPr>
              <a:t>([1, 2, 3]) </a:t>
            </a:r>
          </a:p>
          <a:p>
            <a:r>
              <a:rPr lang="en-US" dirty="0">
                <a:solidFill>
                  <a:srgbClr val="333333"/>
                </a:solidFill>
                <a:latin typeface="-apple-system"/>
              </a:rPr>
              <a:t>arr2 = </a:t>
            </a:r>
            <a:r>
              <a:rPr lang="en-US" dirty="0" err="1">
                <a:solidFill>
                  <a:srgbClr val="333333"/>
                </a:solidFill>
                <a:latin typeface="-apple-system"/>
              </a:rPr>
              <a:t>np.array</a:t>
            </a:r>
            <a:r>
              <a:rPr lang="en-US" dirty="0">
                <a:solidFill>
                  <a:srgbClr val="333333"/>
                </a:solidFill>
                <a:latin typeface="-apple-system"/>
              </a:rPr>
              <a:t>([[10], [20], [30]])        </a:t>
            </a:r>
          </a:p>
          <a:p>
            <a:r>
              <a:rPr lang="en-US" dirty="0">
                <a:solidFill>
                  <a:srgbClr val="333333"/>
                </a:solidFill>
                <a:latin typeface="-apple-system"/>
              </a:rPr>
              <a:t>result = arr1 + arr2</a:t>
            </a: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1CD7410-C9FD-3F8F-F52F-70944B0EBE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559381"/>
              </p:ext>
            </p:extLst>
          </p:nvPr>
        </p:nvGraphicFramePr>
        <p:xfrm>
          <a:off x="5929630" y="600328"/>
          <a:ext cx="272288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7627">
                  <a:extLst>
                    <a:ext uri="{9D8B030D-6E8A-4147-A177-3AD203B41FA5}">
                      <a16:colId xmlns:a16="http://schemas.microsoft.com/office/drawing/2014/main" val="562612810"/>
                    </a:ext>
                  </a:extLst>
                </a:gridCol>
                <a:gridCol w="907627">
                  <a:extLst>
                    <a:ext uri="{9D8B030D-6E8A-4147-A177-3AD203B41FA5}">
                      <a16:colId xmlns:a16="http://schemas.microsoft.com/office/drawing/2014/main" val="310752827"/>
                    </a:ext>
                  </a:extLst>
                </a:gridCol>
                <a:gridCol w="907627">
                  <a:extLst>
                    <a:ext uri="{9D8B030D-6E8A-4147-A177-3AD203B41FA5}">
                      <a16:colId xmlns:a16="http://schemas.microsoft.com/office/drawing/2014/main" val="24090112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00298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EAB974E-118F-CFA0-62A2-6E8166195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820304"/>
              </p:ext>
            </p:extLst>
          </p:nvPr>
        </p:nvGraphicFramePr>
        <p:xfrm>
          <a:off x="3216594" y="3561301"/>
          <a:ext cx="90762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7627">
                  <a:extLst>
                    <a:ext uri="{9D8B030D-6E8A-4147-A177-3AD203B41FA5}">
                      <a16:colId xmlns:a16="http://schemas.microsoft.com/office/drawing/2014/main" val="5626128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002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6023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71858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D107AEC-3C51-D957-80EF-DF9428BEC1EC}"/>
              </a:ext>
            </a:extLst>
          </p:cNvPr>
          <p:cNvSpPr txBox="1"/>
          <p:nvPr/>
        </p:nvSpPr>
        <p:spPr>
          <a:xfrm>
            <a:off x="6296739" y="1017952"/>
            <a:ext cx="19886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arr1.shape = (3,)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71069B-4CA7-251C-C12C-97C9F0584EB6}"/>
              </a:ext>
            </a:extLst>
          </p:cNvPr>
          <p:cNvSpPr txBox="1"/>
          <p:nvPr/>
        </p:nvSpPr>
        <p:spPr>
          <a:xfrm>
            <a:off x="885297" y="3995878"/>
            <a:ext cx="25094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arr2.shape = (3,1) </a:t>
            </a:r>
            <a:endParaRPr lang="en-US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28DE3A9-E10A-337F-F9BE-6AFBF4272A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416105"/>
              </p:ext>
            </p:extLst>
          </p:nvPr>
        </p:nvGraphicFramePr>
        <p:xfrm>
          <a:off x="5344900" y="3561301"/>
          <a:ext cx="272288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7627">
                  <a:extLst>
                    <a:ext uri="{9D8B030D-6E8A-4147-A177-3AD203B41FA5}">
                      <a16:colId xmlns:a16="http://schemas.microsoft.com/office/drawing/2014/main" val="562612810"/>
                    </a:ext>
                  </a:extLst>
                </a:gridCol>
                <a:gridCol w="907627">
                  <a:extLst>
                    <a:ext uri="{9D8B030D-6E8A-4147-A177-3AD203B41FA5}">
                      <a16:colId xmlns:a16="http://schemas.microsoft.com/office/drawing/2014/main" val="310752827"/>
                    </a:ext>
                  </a:extLst>
                </a:gridCol>
                <a:gridCol w="907627">
                  <a:extLst>
                    <a:ext uri="{9D8B030D-6E8A-4147-A177-3AD203B41FA5}">
                      <a16:colId xmlns:a16="http://schemas.microsoft.com/office/drawing/2014/main" val="24090112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147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002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8025837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2EF0230-C790-4255-149B-5101F423A323}"/>
              </a:ext>
            </a:extLst>
          </p:cNvPr>
          <p:cNvSpPr txBox="1"/>
          <p:nvPr/>
        </p:nvSpPr>
        <p:spPr>
          <a:xfrm>
            <a:off x="9365139" y="971168"/>
            <a:ext cx="19886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arr1.shape = (1,3)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6B4ACE75-BD79-D807-E4B7-5F1668C165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854407"/>
              </p:ext>
            </p:extLst>
          </p:nvPr>
        </p:nvGraphicFramePr>
        <p:xfrm>
          <a:off x="8804593" y="1955852"/>
          <a:ext cx="272288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7627">
                  <a:extLst>
                    <a:ext uri="{9D8B030D-6E8A-4147-A177-3AD203B41FA5}">
                      <a16:colId xmlns:a16="http://schemas.microsoft.com/office/drawing/2014/main" val="562612810"/>
                    </a:ext>
                  </a:extLst>
                </a:gridCol>
                <a:gridCol w="907627">
                  <a:extLst>
                    <a:ext uri="{9D8B030D-6E8A-4147-A177-3AD203B41FA5}">
                      <a16:colId xmlns:a16="http://schemas.microsoft.com/office/drawing/2014/main" val="310752827"/>
                    </a:ext>
                  </a:extLst>
                </a:gridCol>
                <a:gridCol w="907627">
                  <a:extLst>
                    <a:ext uri="{9D8B030D-6E8A-4147-A177-3AD203B41FA5}">
                      <a16:colId xmlns:a16="http://schemas.microsoft.com/office/drawing/2014/main" val="24090112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002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7773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372376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B9D2424-4DFB-A315-9990-A92F4F4D86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791643"/>
              </p:ext>
            </p:extLst>
          </p:nvPr>
        </p:nvGraphicFramePr>
        <p:xfrm>
          <a:off x="8804592" y="4953566"/>
          <a:ext cx="272288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7627">
                  <a:extLst>
                    <a:ext uri="{9D8B030D-6E8A-4147-A177-3AD203B41FA5}">
                      <a16:colId xmlns:a16="http://schemas.microsoft.com/office/drawing/2014/main" val="562612810"/>
                    </a:ext>
                  </a:extLst>
                </a:gridCol>
                <a:gridCol w="907627">
                  <a:extLst>
                    <a:ext uri="{9D8B030D-6E8A-4147-A177-3AD203B41FA5}">
                      <a16:colId xmlns:a16="http://schemas.microsoft.com/office/drawing/2014/main" val="310752827"/>
                    </a:ext>
                  </a:extLst>
                </a:gridCol>
                <a:gridCol w="907627">
                  <a:extLst>
                    <a:ext uri="{9D8B030D-6E8A-4147-A177-3AD203B41FA5}">
                      <a16:colId xmlns:a16="http://schemas.microsoft.com/office/drawing/2014/main" val="24090112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147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002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8025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05369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B8E48-1827-EA13-1192-8041CC8D9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C05BD1D-28A9-A6BF-085A-C88A782C63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7126" y="810930"/>
            <a:ext cx="10746674" cy="39935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2D6600-4D3B-6715-0C3B-C8784404F70B}"/>
              </a:ext>
            </a:extLst>
          </p:cNvPr>
          <p:cNvSpPr txBox="1"/>
          <p:nvPr/>
        </p:nvSpPr>
        <p:spPr>
          <a:xfrm>
            <a:off x="957020" y="5008456"/>
            <a:ext cx="1051559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arr1 has shape </a:t>
            </a:r>
            <a:r>
              <a:rPr lang="en-US" sz="2400" b="1" dirty="0"/>
              <a:t>(2, 3)</a:t>
            </a:r>
            <a:r>
              <a:rPr lang="en-US" sz="2400" dirty="0"/>
              <a:t> and arr2 has shape </a:t>
            </a:r>
            <a:r>
              <a:rPr lang="en-US" sz="2400" b="1" dirty="0"/>
              <a:t>(2,)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Shapes are incompatible because the second dimension does not match, and neither is 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Broadcasting </a:t>
            </a:r>
            <a:r>
              <a:rPr lang="en-US" sz="2400" b="1" dirty="0"/>
              <a:t>fails</a:t>
            </a:r>
            <a:r>
              <a:rPr lang="en-US" sz="2400" dirty="0"/>
              <a:t>, and an error is raised.</a:t>
            </a:r>
          </a:p>
        </p:txBody>
      </p:sp>
    </p:spTree>
    <p:extLst>
      <p:ext uri="{BB962C8B-B14F-4D97-AF65-F5344CB8AC3E}">
        <p14:creationId xmlns:p14="http://schemas.microsoft.com/office/powerpoint/2010/main" val="3768504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D729E-3991-C33B-D282-0F3196BF8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9425"/>
            <a:ext cx="10515600" cy="1006474"/>
          </a:xfrm>
        </p:spPr>
        <p:txBody>
          <a:bodyPr>
            <a:noAutofit/>
          </a:bodyPr>
          <a:lstStyle/>
          <a:p>
            <a:r>
              <a:rPr lang="en-US" sz="2000" dirty="0"/>
              <a:t>Always compare shapes </a:t>
            </a:r>
            <a:r>
              <a:rPr lang="en-US" sz="2000" b="1" dirty="0"/>
              <a:t>from right to left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b="1" dirty="0"/>
              <a:t>The basic rule</a:t>
            </a:r>
            <a:br>
              <a:rPr lang="en-US" sz="2000" b="1" dirty="0"/>
            </a:br>
            <a:r>
              <a:rPr lang="en-US" sz="2000" dirty="0"/>
              <a:t>Two dimensions are compatible if:</a:t>
            </a:r>
            <a:br>
              <a:rPr lang="en-US" sz="2000" dirty="0"/>
            </a:br>
            <a:r>
              <a:rPr lang="en-US" sz="2000" dirty="0"/>
              <a:t>They are </a:t>
            </a:r>
            <a:r>
              <a:rPr lang="en-US" sz="2000" b="1" dirty="0"/>
              <a:t>equal</a:t>
            </a:r>
            <a:r>
              <a:rPr lang="en-US" sz="2000" dirty="0"/>
              <a:t>, or  </a:t>
            </a:r>
            <a:r>
              <a:rPr lang="en-US" sz="2000" b="1" dirty="0"/>
              <a:t>One of them is 1</a:t>
            </a: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/>
              <a:t>If neither condition is true → </a:t>
            </a:r>
            <a:r>
              <a:rPr lang="en-US" sz="2000" b="1" dirty="0"/>
              <a:t>broadcasting fails</a:t>
            </a:r>
            <a:r>
              <a:rPr lang="en-US" sz="2000" dirty="0"/>
              <a:t>.</a:t>
            </a:r>
            <a:br>
              <a:rPr lang="en-US" sz="2000" dirty="0"/>
            </a:br>
            <a:endParaRPr lang="en-US" sz="20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89387D3-5943-3261-22D0-467BD1EBE0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4283177"/>
              </p:ext>
            </p:extLst>
          </p:nvPr>
        </p:nvGraphicFramePr>
        <p:xfrm>
          <a:off x="838200" y="1663699"/>
          <a:ext cx="10515600" cy="51212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01070458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9199216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3412262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44732871"/>
                    </a:ext>
                  </a:extLst>
                </a:gridCol>
              </a:tblGrid>
              <a:tr h="5690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Array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Array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Broadcasting?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Why?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0848027"/>
                  </a:ext>
                </a:extLst>
              </a:tr>
              <a:tr h="5690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(3,)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(2,)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 ≠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4422556"/>
                  </a:ext>
                </a:extLst>
              </a:tr>
              <a:tr h="5690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(2,3)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(2,2)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 ≠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1891476"/>
                  </a:ext>
                </a:extLst>
              </a:tr>
              <a:tr h="5690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(3,4)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(2,1)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 ≠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899116"/>
                  </a:ext>
                </a:extLst>
              </a:tr>
              <a:tr h="5690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(4,3)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(2,3)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 ≠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6585856"/>
                  </a:ext>
                </a:extLst>
              </a:tr>
              <a:tr h="5690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(3,4)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(3,1)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 vs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8458116"/>
                  </a:ext>
                </a:extLst>
              </a:tr>
              <a:tr h="5690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(2,3)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(3,)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 vs 3; 2 vs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1777259"/>
                  </a:ext>
                </a:extLst>
              </a:tr>
              <a:tr h="5690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(2,3)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(1,3)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 can expand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9459476"/>
                  </a:ext>
                </a:extLst>
              </a:tr>
              <a:tr h="5690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(2,3,4)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(3,4)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equivalent to (1,3,4)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073553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C503AEC-5A61-D25D-AA33-0063E64834A0}"/>
              </a:ext>
            </a:extLst>
          </p:cNvPr>
          <p:cNvSpPr/>
          <p:nvPr/>
        </p:nvSpPr>
        <p:spPr>
          <a:xfrm>
            <a:off x="6096000" y="2235200"/>
            <a:ext cx="5257800" cy="596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4504A4-C5BC-F039-D47B-C2CE299BFE4A}"/>
              </a:ext>
            </a:extLst>
          </p:cNvPr>
          <p:cNvSpPr/>
          <p:nvPr/>
        </p:nvSpPr>
        <p:spPr>
          <a:xfrm>
            <a:off x="6096000" y="2832100"/>
            <a:ext cx="5257800" cy="596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7881A8-519A-8E04-A225-8C1446613443}"/>
              </a:ext>
            </a:extLst>
          </p:cNvPr>
          <p:cNvSpPr/>
          <p:nvPr/>
        </p:nvSpPr>
        <p:spPr>
          <a:xfrm>
            <a:off x="6096000" y="3362327"/>
            <a:ext cx="5257800" cy="596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DB03EE-9B9D-4B69-4C6A-F8924C41DFB0}"/>
              </a:ext>
            </a:extLst>
          </p:cNvPr>
          <p:cNvSpPr/>
          <p:nvPr/>
        </p:nvSpPr>
        <p:spPr>
          <a:xfrm>
            <a:off x="6096000" y="3959227"/>
            <a:ext cx="5257800" cy="596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229E64-FEFB-053E-5E62-AC2A6F95C91A}"/>
              </a:ext>
            </a:extLst>
          </p:cNvPr>
          <p:cNvSpPr/>
          <p:nvPr/>
        </p:nvSpPr>
        <p:spPr>
          <a:xfrm>
            <a:off x="6096000" y="4476752"/>
            <a:ext cx="5257800" cy="596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4D2E6D-FBFA-5600-026D-5B085BCCFB58}"/>
              </a:ext>
            </a:extLst>
          </p:cNvPr>
          <p:cNvSpPr/>
          <p:nvPr/>
        </p:nvSpPr>
        <p:spPr>
          <a:xfrm>
            <a:off x="6096000" y="5086354"/>
            <a:ext cx="5257800" cy="596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13CA43-88CA-D7C0-68D0-2695FF7C504A}"/>
              </a:ext>
            </a:extLst>
          </p:cNvPr>
          <p:cNvSpPr/>
          <p:nvPr/>
        </p:nvSpPr>
        <p:spPr>
          <a:xfrm>
            <a:off x="6096000" y="5632458"/>
            <a:ext cx="5257800" cy="596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E81EE6-3925-346C-6A47-5080081753D0}"/>
              </a:ext>
            </a:extLst>
          </p:cNvPr>
          <p:cNvSpPr/>
          <p:nvPr/>
        </p:nvSpPr>
        <p:spPr>
          <a:xfrm>
            <a:off x="6096000" y="6162680"/>
            <a:ext cx="5257800" cy="596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75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31348-796A-19C4-CF88-F2E51FAA5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Universal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45060-D51C-1BE3-6DB2-7709C617A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6685"/>
            <a:ext cx="10515600" cy="1603375"/>
          </a:xfrm>
        </p:spPr>
        <p:txBody>
          <a:bodyPr/>
          <a:lstStyle/>
          <a:p>
            <a:r>
              <a:rPr lang="en-US" dirty="0"/>
              <a:t>a = </a:t>
            </a:r>
            <a:r>
              <a:rPr lang="en-US" dirty="0" err="1"/>
              <a:t>np.array</a:t>
            </a:r>
            <a:r>
              <a:rPr lang="en-US" dirty="0"/>
              <a:t>([1,-1,1,-2])</a:t>
            </a:r>
          </a:p>
          <a:p>
            <a:r>
              <a:rPr lang="en-US" dirty="0" err="1"/>
              <a:t>a.mean</a:t>
            </a:r>
            <a:r>
              <a:rPr lang="en-US" dirty="0"/>
              <a:t>()</a:t>
            </a:r>
          </a:p>
          <a:p>
            <a:r>
              <a:rPr lang="en-US" dirty="0" err="1"/>
              <a:t>a.max</a:t>
            </a:r>
            <a:r>
              <a:rPr lang="en-US" dirty="0"/>
              <a:t>()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A8A7C6-EA24-98BD-DDDC-7D9751D28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441" y="3160060"/>
            <a:ext cx="9528877" cy="361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3856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146D2-760D-3AFC-D245-F7E916242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</a:t>
            </a:r>
            <a:r>
              <a:rPr lang="en-US" dirty="0" err="1"/>
              <a:t>Numpy</a:t>
            </a:r>
            <a:r>
              <a:rPr lang="en-US" dirty="0"/>
              <a:t>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D4D19-F22A-C66C-3AE3-0B15BC902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np.array</a:t>
            </a:r>
            <a:r>
              <a:rPr lang="en-US" dirty="0"/>
              <a:t>() - Creates an array from an existing Python sequence.</a:t>
            </a:r>
          </a:p>
          <a:p>
            <a:r>
              <a:rPr lang="en-US" dirty="0" err="1"/>
              <a:t>np.arange</a:t>
            </a:r>
            <a:r>
              <a:rPr lang="en-US" dirty="0"/>
              <a:t>() - Creates evenly spaced values within a specified range.</a:t>
            </a:r>
          </a:p>
          <a:p>
            <a:r>
              <a:rPr lang="en-US" b="1" dirty="0" err="1"/>
              <a:t>np.linspace</a:t>
            </a:r>
            <a:r>
              <a:rPr lang="en-US" b="1" dirty="0"/>
              <a:t>() - </a:t>
            </a:r>
            <a:r>
              <a:rPr lang="en-US" dirty="0"/>
              <a:t>Creates a specified number of </a:t>
            </a:r>
            <a:r>
              <a:rPr lang="en-US" b="1" dirty="0"/>
              <a:t>evenly spaced values</a:t>
            </a:r>
            <a:r>
              <a:rPr lang="en-US" dirty="0"/>
              <a:t> between two limits.</a:t>
            </a:r>
          </a:p>
          <a:p>
            <a:r>
              <a:rPr lang="en-US" dirty="0" err="1"/>
              <a:t>Np.zeros</a:t>
            </a:r>
            <a:r>
              <a:rPr lang="en-US" dirty="0"/>
              <a:t>()</a:t>
            </a:r>
          </a:p>
          <a:p>
            <a:r>
              <a:rPr lang="en-US" dirty="0" err="1"/>
              <a:t>Np.ones</a:t>
            </a:r>
            <a:r>
              <a:rPr lang="en-US" dirty="0"/>
              <a:t>()</a:t>
            </a:r>
          </a:p>
          <a:p>
            <a:r>
              <a:rPr lang="en-US" dirty="0" err="1"/>
              <a:t>np.random.randint</a:t>
            </a:r>
            <a:r>
              <a:rPr lang="en-US" dirty="0"/>
              <a:t>() - Generates random integers.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3475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B812A-4C43-F1E5-CE91-101978054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Linspace</a:t>
            </a:r>
            <a:r>
              <a:rPr lang="en-US" dirty="0"/>
              <a:t> vs </a:t>
            </a:r>
            <a:r>
              <a:rPr lang="en-US" dirty="0" err="1"/>
              <a:t>arange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03DA3-0C6A-FC81-4684-0F1173044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000000"/>
                </a:solidFill>
                <a:effectLst/>
                <a:latin typeface="Helvetica" pitchFamily="2" charset="0"/>
              </a:rPr>
              <a:t>linspace</a:t>
            </a:r>
            <a:r>
              <a:rPr lang="en-US" b="1" i="0" dirty="0">
                <a:solidFill>
                  <a:srgbClr val="000000"/>
                </a:solidFill>
                <a:effectLst/>
                <a:latin typeface="Helvetica" pitchFamily="2" charset="0"/>
              </a:rPr>
              <a:t> 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" pitchFamily="2" charset="0"/>
              </a:rPr>
              <a:t>allows you to specify the </a:t>
            </a:r>
            <a:r>
              <a:rPr lang="en-US" b="0" i="1" dirty="0">
                <a:solidFill>
                  <a:srgbClr val="000000"/>
                </a:solidFill>
                <a:effectLst/>
                <a:latin typeface="inherit"/>
              </a:rPr>
              <a:t>number 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" pitchFamily="2" charset="0"/>
              </a:rPr>
              <a:t>of steps</a:t>
            </a:r>
            <a:endParaRPr lang="en-US" b="0" i="0" dirty="0">
              <a:solidFill>
                <a:srgbClr val="3D3D3D"/>
              </a:solidFill>
              <a:effectLst/>
              <a:latin typeface="inherit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000000"/>
                </a:solidFill>
                <a:effectLst/>
                <a:latin typeface="Helvetica" pitchFamily="2" charset="0"/>
              </a:rPr>
              <a:t>arange</a:t>
            </a:r>
            <a:r>
              <a:rPr lang="en-US" b="1" i="0" dirty="0">
                <a:solidFill>
                  <a:srgbClr val="000000"/>
                </a:solidFill>
                <a:effectLst/>
                <a:latin typeface="Helvetica" pitchFamily="2" charset="0"/>
              </a:rPr>
              <a:t> 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" pitchFamily="2" charset="0"/>
              </a:rPr>
              <a:t>allows you to specify the </a:t>
            </a:r>
            <a:r>
              <a:rPr lang="en-US" b="0" i="1" dirty="0">
                <a:solidFill>
                  <a:srgbClr val="000000"/>
                </a:solidFill>
                <a:effectLst/>
                <a:latin typeface="inherit"/>
              </a:rPr>
              <a:t>size 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" pitchFamily="2" charset="0"/>
              </a:rPr>
              <a:t>of the steps</a:t>
            </a:r>
            <a:endParaRPr lang="en-US" b="0" i="0" dirty="0">
              <a:solidFill>
                <a:srgbClr val="3D3D3D"/>
              </a:solidFill>
              <a:effectLst/>
              <a:latin typeface="inherit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9F9248-5610-99B4-F2A8-4A5B7E447AD6}"/>
              </a:ext>
            </a:extLst>
          </p:cNvPr>
          <p:cNvSpPr txBox="1"/>
          <p:nvPr/>
        </p:nvSpPr>
        <p:spPr>
          <a:xfrm>
            <a:off x="6257440" y="3308795"/>
            <a:ext cx="609858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2800" b="1" i="0" dirty="0" err="1">
                <a:solidFill>
                  <a:srgbClr val="000000"/>
                </a:solidFill>
                <a:effectLst/>
                <a:latin typeface="inherit"/>
              </a:rPr>
              <a:t>np.arange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inherit"/>
              </a:rPr>
              <a:t>(start, stop, step, …)</a:t>
            </a:r>
          </a:p>
          <a:p>
            <a:pPr algn="l" fontAlgn="base"/>
            <a:r>
              <a:rPr lang="en-US" sz="2800" b="1" dirty="0">
                <a:solidFill>
                  <a:srgbClr val="000000"/>
                </a:solidFill>
                <a:latin typeface="inherit"/>
              </a:rPr>
              <a:t>Excludes stop</a:t>
            </a:r>
            <a:endParaRPr lang="en-US" sz="2800" b="0" i="0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br>
              <a:rPr lang="en-US" sz="2800" dirty="0"/>
            </a:b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67CC55-336E-F164-3FCD-03762A4478EB}"/>
              </a:ext>
            </a:extLst>
          </p:cNvPr>
          <p:cNvSpPr txBox="1"/>
          <p:nvPr/>
        </p:nvSpPr>
        <p:spPr>
          <a:xfrm>
            <a:off x="662553" y="3308796"/>
            <a:ext cx="609858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2800" b="1" i="0" dirty="0" err="1">
                <a:solidFill>
                  <a:srgbClr val="000000"/>
                </a:solidFill>
                <a:effectLst/>
                <a:latin typeface="inherit"/>
              </a:rPr>
              <a:t>np.linspace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inherit"/>
              </a:rPr>
              <a:t>(start, stop, num, …)</a:t>
            </a:r>
          </a:p>
          <a:p>
            <a:pPr algn="l" fontAlgn="base"/>
            <a:r>
              <a:rPr lang="en-US" sz="2800" b="1" dirty="0">
                <a:solidFill>
                  <a:srgbClr val="000000"/>
                </a:solidFill>
                <a:latin typeface="inherit"/>
              </a:rPr>
              <a:t>Includes stop</a:t>
            </a:r>
            <a:endParaRPr lang="en-US" sz="2800" b="0" i="0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br>
              <a:rPr lang="en-US" sz="2800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837900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26D73-64FC-9A65-013A-198B54866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688"/>
            <a:ext cx="10515600" cy="1325563"/>
          </a:xfrm>
        </p:spPr>
        <p:txBody>
          <a:bodyPr/>
          <a:lstStyle/>
          <a:p>
            <a:r>
              <a:rPr lang="en-US" dirty="0"/>
              <a:t>Plotting using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181A1-124D-8E28-C882-68D046AE9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89096"/>
            <a:ext cx="4663698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err="1"/>
              <a:t>np.linspace</a:t>
            </a:r>
            <a:r>
              <a:rPr lang="en-US" dirty="0"/>
              <a:t>(-2,2,num=5)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err="1"/>
              <a:t>np.linspace</a:t>
            </a:r>
            <a:r>
              <a:rPr lang="en-US" dirty="0"/>
              <a:t>(-2,2,num=9)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AFF3CE-CCC4-6BB3-FE14-F282F81A5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92663"/>
            <a:ext cx="7772400" cy="19013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20E3C5-6160-0907-4A06-6C3DC8FB0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97592"/>
            <a:ext cx="7772400" cy="12428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12947D9-180C-1F27-E3DC-5A3C504B67E5}"/>
              </a:ext>
            </a:extLst>
          </p:cNvPr>
          <p:cNvSpPr txBox="1"/>
          <p:nvPr/>
        </p:nvSpPr>
        <p:spPr>
          <a:xfrm>
            <a:off x="838199" y="1413910"/>
            <a:ext cx="102895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/>
              <a:t>linspace</a:t>
            </a:r>
            <a:r>
              <a:rPr lang="en-US" sz="2800" dirty="0"/>
              <a:t>: generate evenly spaced numbers over a specified range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ABEE89-EA86-C40F-B995-A6C129AB4993}"/>
              </a:ext>
            </a:extLst>
          </p:cNvPr>
          <p:cNvSpPr txBox="1"/>
          <p:nvPr/>
        </p:nvSpPr>
        <p:spPr>
          <a:xfrm>
            <a:off x="7532176" y="2125818"/>
            <a:ext cx="6098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2400" i="0" dirty="0" err="1">
                <a:solidFill>
                  <a:srgbClr val="000000"/>
                </a:solidFill>
                <a:effectLst/>
                <a:latin typeface="inherit"/>
              </a:rPr>
              <a:t>np.arange</a:t>
            </a:r>
            <a:r>
              <a:rPr lang="en-US" sz="2400" i="0" dirty="0">
                <a:solidFill>
                  <a:srgbClr val="000000"/>
                </a:solidFill>
                <a:effectLst/>
                <a:latin typeface="inherit"/>
              </a:rPr>
              <a:t>(-2,2,5)</a:t>
            </a:r>
            <a:endParaRPr lang="en-US" sz="2400" i="0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422EBB-77BE-B7CD-0C6A-9027A2D49F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7087"/>
          <a:stretch/>
        </p:blipFill>
        <p:spPr>
          <a:xfrm>
            <a:off x="7333887" y="2695501"/>
            <a:ext cx="3147528" cy="91770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4A6605B-31F5-E8AB-E6CD-99F093FB18CB}"/>
              </a:ext>
            </a:extLst>
          </p:cNvPr>
          <p:cNvSpPr txBox="1"/>
          <p:nvPr/>
        </p:nvSpPr>
        <p:spPr>
          <a:xfrm>
            <a:off x="7532176" y="3698843"/>
            <a:ext cx="6098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2400" i="0" dirty="0" err="1">
                <a:solidFill>
                  <a:srgbClr val="000000"/>
                </a:solidFill>
                <a:effectLst/>
                <a:latin typeface="inherit"/>
              </a:rPr>
              <a:t>np.arange</a:t>
            </a:r>
            <a:r>
              <a:rPr lang="en-US" sz="2400" i="0" dirty="0">
                <a:solidFill>
                  <a:srgbClr val="000000"/>
                </a:solidFill>
                <a:effectLst/>
                <a:latin typeface="inherit"/>
              </a:rPr>
              <a:t>(-2,2,9)</a:t>
            </a:r>
            <a:endParaRPr lang="en-US" sz="2400" i="0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F8F2B64-FC00-8D57-1F07-D12538664EB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7087"/>
          <a:stretch/>
        </p:blipFill>
        <p:spPr>
          <a:xfrm>
            <a:off x="7333887" y="4305224"/>
            <a:ext cx="3147528" cy="91770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1BE6D01-4DE3-41EA-B0E4-3D3B9A366531}"/>
              </a:ext>
            </a:extLst>
          </p:cNvPr>
          <p:cNvSpPr txBox="1"/>
          <p:nvPr/>
        </p:nvSpPr>
        <p:spPr>
          <a:xfrm>
            <a:off x="7532176" y="5197592"/>
            <a:ext cx="6098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2400" i="0" dirty="0" err="1">
                <a:solidFill>
                  <a:srgbClr val="000000"/>
                </a:solidFill>
                <a:effectLst/>
                <a:latin typeface="inherit"/>
              </a:rPr>
              <a:t>np.arange</a:t>
            </a:r>
            <a:r>
              <a:rPr lang="en-US" sz="2400" i="0" dirty="0">
                <a:solidFill>
                  <a:srgbClr val="000000"/>
                </a:solidFill>
                <a:effectLst/>
                <a:latin typeface="inherit"/>
              </a:rPr>
              <a:t>(-2,2,3)</a:t>
            </a:r>
            <a:endParaRPr lang="en-US" sz="2400" i="0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FB4FD81-86C7-9BAD-6FBF-1F52220EA2A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6942" b="6282"/>
          <a:stretch/>
        </p:blipFill>
        <p:spPr>
          <a:xfrm>
            <a:off x="7400007" y="5788960"/>
            <a:ext cx="3727775" cy="70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419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61D80-93F8-2DB7-46F5-27D998FA4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Seed and Reproducibility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947BB-7B9F-D788-A335-509F88340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np.random.randint</a:t>
            </a:r>
            <a:r>
              <a:rPr lang="en-US" dirty="0"/>
              <a:t>(1, 100, 5)</a:t>
            </a:r>
          </a:p>
          <a:p>
            <a:r>
              <a:rPr lang="en-US" dirty="0" err="1"/>
              <a:t>np.random.seed</a:t>
            </a:r>
            <a:r>
              <a:rPr lang="en-US" dirty="0"/>
              <a:t>(42)</a:t>
            </a:r>
          </a:p>
          <a:p>
            <a:r>
              <a:rPr lang="en-US" dirty="0"/>
              <a:t>will produce the same sequence whenever the same seed is used.</a:t>
            </a:r>
          </a:p>
        </p:txBody>
      </p:sp>
    </p:spTree>
    <p:extLst>
      <p:ext uri="{BB962C8B-B14F-4D97-AF65-F5344CB8AC3E}">
        <p14:creationId xmlns:p14="http://schemas.microsoft.com/office/powerpoint/2010/main" val="22949480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1D220-4440-30FA-CF5E-40B23577E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Views vs Copies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13EFB-0CC6-9D33-39BB-37B7A9D56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037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= </a:t>
            </a:r>
            <a:r>
              <a:rPr lang="en-US" dirty="0" err="1"/>
              <a:t>np.array</a:t>
            </a:r>
            <a:r>
              <a:rPr lang="en-US" dirty="0"/>
              <a:t>([1, 2, 3, 4, 5])</a:t>
            </a:r>
          </a:p>
          <a:p>
            <a:pPr marL="0" indent="0">
              <a:buNone/>
            </a:pPr>
            <a:r>
              <a:rPr lang="en-US" dirty="0"/>
              <a:t>b = a[1:4] </a:t>
            </a:r>
          </a:p>
          <a:p>
            <a:pPr marL="0" indent="0">
              <a:buNone/>
            </a:pPr>
            <a:r>
              <a:rPr lang="en-US" dirty="0"/>
              <a:t>b[0] = 999</a:t>
            </a:r>
          </a:p>
          <a:p>
            <a:pPr marL="0" indent="0">
              <a:buNone/>
            </a:pPr>
            <a:r>
              <a:rPr lang="en-US" dirty="0"/>
              <a:t>a = [1, 2, 3, 4, 5] </a:t>
            </a:r>
            <a:r>
              <a:rPr lang="en-US" dirty="0" err="1"/>
              <a:t>Xwrong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 = [1, 999, 3, 4, 5]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E76514-D02F-1D82-5070-29307353F044}"/>
              </a:ext>
            </a:extLst>
          </p:cNvPr>
          <p:cNvSpPr txBox="1"/>
          <p:nvPr/>
        </p:nvSpPr>
        <p:spPr>
          <a:xfrm>
            <a:off x="2692400" y="2368203"/>
            <a:ext cx="92837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/>
              <a:t>//Because slicing a NumPy array generally produces a </a:t>
            </a:r>
            <a:r>
              <a:rPr lang="en-US" sz="2000" b="1" i="1" dirty="0"/>
              <a:t>view</a:t>
            </a:r>
            <a:r>
              <a:rPr lang="en-US" sz="2000" i="1" dirty="0"/>
              <a:t> of the original data rather than an independent copy.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BA1CC8-95AA-2E86-B518-01868AC1347A}"/>
              </a:ext>
            </a:extLst>
          </p:cNvPr>
          <p:cNvSpPr txBox="1"/>
          <p:nvPr/>
        </p:nvSpPr>
        <p:spPr>
          <a:xfrm>
            <a:off x="5257800" y="417623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To create an independent array:</a:t>
            </a:r>
          </a:p>
          <a:p>
            <a:pPr rtl="0">
              <a:buNone/>
            </a:pPr>
            <a:r>
              <a:rPr lang="en-US" sz="2400" dirty="0">
                <a:latin typeface="+mn-lt"/>
              </a:rPr>
              <a:t>b = a[1:4].copy()</a:t>
            </a:r>
          </a:p>
          <a:p>
            <a:pPr>
              <a:buNone/>
            </a:pPr>
            <a:r>
              <a:rPr lang="en-US" sz="2400" dirty="0">
                <a:latin typeface="+mn-lt"/>
              </a:rPr>
              <a:t>b[0] = 999 </a:t>
            </a:r>
            <a:r>
              <a:rPr lang="en-US" sz="2400" dirty="0"/>
              <a:t>does not modify </a:t>
            </a:r>
            <a:r>
              <a:rPr lang="en-US" sz="2400" dirty="0">
                <a:latin typeface="+mn-lt"/>
              </a:rPr>
              <a:t>a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45763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1E202-24B3-7788-A7EE-BA415E779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Flatten() vs Ravel()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EF5FF-A814-3EA7-7961-BDB8427AF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7316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357C5-D0CD-B63B-8645-F0CAE6788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F6D9038-ECCB-0789-EB74-5537DC3EC9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262541"/>
            <a:ext cx="10515600" cy="347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9600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D65C2-D899-5E23-26C1-57BB43F99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 Libraries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54801-E44B-EA9A-2369-6411BEAAC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220" y="1596385"/>
            <a:ext cx="11188485" cy="540753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Matplotlib</a:t>
            </a:r>
          </a:p>
          <a:p>
            <a:pPr lvl="1"/>
            <a:r>
              <a:rPr lang="en-US" b="1" dirty="0"/>
              <a:t>Comprehensive library</a:t>
            </a:r>
            <a:r>
              <a:rPr lang="en-US" dirty="0"/>
              <a:t> for creating static, animated, and interactive visualizations in Python.</a:t>
            </a:r>
          </a:p>
          <a:p>
            <a:pPr lvl="1"/>
            <a:r>
              <a:rPr lang="en-US" dirty="0"/>
              <a:t>Provides a low-level infrastructure for drawing figures, allowing you to control every aspect of a plot.</a:t>
            </a:r>
          </a:p>
          <a:p>
            <a:pPr lvl="1"/>
            <a:r>
              <a:rPr lang="en-US" dirty="0"/>
              <a:t>Working with </a:t>
            </a:r>
            <a:r>
              <a:rPr lang="en-US" dirty="0" err="1"/>
              <a:t>Numpy</a:t>
            </a:r>
            <a:r>
              <a:rPr lang="en-US" dirty="0"/>
              <a:t> arrays</a:t>
            </a:r>
          </a:p>
          <a:p>
            <a:pPr lvl="1"/>
            <a:r>
              <a:rPr lang="en-US" dirty="0"/>
              <a:t>Modules:</a:t>
            </a:r>
          </a:p>
          <a:p>
            <a:pPr lvl="2"/>
            <a:r>
              <a:rPr lang="en-US" sz="2400" i="1" dirty="0" err="1"/>
              <a:t>pyplot</a:t>
            </a:r>
            <a:r>
              <a:rPr lang="en-US" sz="2400" i="1" dirty="0"/>
              <a:t> – High-level interface for creating plots.</a:t>
            </a:r>
          </a:p>
          <a:p>
            <a:pPr lvl="2"/>
            <a:r>
              <a:rPr lang="en-US" sz="2400" i="1" dirty="0"/>
              <a:t>artist – Low-level primitives for custom drawings.</a:t>
            </a:r>
          </a:p>
          <a:p>
            <a:pPr lvl="2"/>
            <a:r>
              <a:rPr lang="en-US" sz="2400" i="1" dirty="0" err="1"/>
              <a:t>backend_bases</a:t>
            </a:r>
            <a:r>
              <a:rPr lang="en-US" sz="2400" i="1" dirty="0"/>
              <a:t> – For rendering in different formats (e.g., PNG, PDF).</a:t>
            </a:r>
          </a:p>
          <a:p>
            <a:endParaRPr lang="en-US" dirty="0"/>
          </a:p>
          <a:p>
            <a:r>
              <a:rPr lang="en-US" dirty="0"/>
              <a:t>Seaborn</a:t>
            </a:r>
          </a:p>
          <a:p>
            <a:pPr lvl="1"/>
            <a:r>
              <a:rPr lang="en-US" b="1" dirty="0"/>
              <a:t>High-level data visualization library</a:t>
            </a:r>
            <a:r>
              <a:rPr lang="en-US" dirty="0"/>
              <a:t> built on top of Matplotlib, designed to make </a:t>
            </a:r>
            <a:r>
              <a:rPr lang="en-US" b="1" dirty="0"/>
              <a:t>statistical graphics</a:t>
            </a:r>
            <a:r>
              <a:rPr lang="en-US" dirty="0"/>
              <a:t> attractive and informative.</a:t>
            </a:r>
          </a:p>
          <a:p>
            <a:pPr lvl="1"/>
            <a:r>
              <a:rPr lang="en-US" dirty="0"/>
              <a:t>You're working with </a:t>
            </a:r>
            <a:r>
              <a:rPr lang="en-US" b="1" dirty="0"/>
              <a:t>Pandas </a:t>
            </a:r>
            <a:r>
              <a:rPr lang="en-US" b="1" dirty="0" err="1"/>
              <a:t>DataFrames</a:t>
            </a:r>
            <a:r>
              <a:rPr lang="en-US" dirty="0"/>
              <a:t> for data analysis.</a:t>
            </a:r>
          </a:p>
        </p:txBody>
      </p:sp>
    </p:spTree>
    <p:extLst>
      <p:ext uri="{BB962C8B-B14F-4D97-AF65-F5344CB8AC3E}">
        <p14:creationId xmlns:p14="http://schemas.microsoft.com/office/powerpoint/2010/main" val="25339177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681A9-AB76-0929-0507-7F047FCDC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E64C4-6371-8F9C-C500-AD415B30E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Matplotlib - </a:t>
            </a:r>
            <a:r>
              <a:rPr lang="en-US" b="1" dirty="0"/>
              <a:t>Basic plots</a:t>
            </a:r>
            <a:r>
              <a:rPr lang="en-US" dirty="0"/>
              <a:t>: Line, bar, scatter, histograms.</a:t>
            </a:r>
          </a:p>
        </p:txBody>
      </p:sp>
    </p:spTree>
    <p:extLst>
      <p:ext uri="{BB962C8B-B14F-4D97-AF65-F5344CB8AC3E}">
        <p14:creationId xmlns:p14="http://schemas.microsoft.com/office/powerpoint/2010/main" val="29267305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CAF0C-D339-6F7E-3816-9A127778E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42F10-922E-65D3-E146-D31BA98E4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8105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/>
              <a:t># Create a simple line plot using </a:t>
            </a:r>
            <a:r>
              <a:rPr lang="en-US" sz="2400" dirty="0" err="1"/>
              <a:t>pyplot</a:t>
            </a:r>
            <a:endParaRPr lang="en-US" sz="2400" dirty="0"/>
          </a:p>
          <a:p>
            <a:pPr marL="0" indent="0">
              <a:buNone/>
            </a:pPr>
            <a:r>
              <a:rPr lang="en-US" dirty="0" err="1"/>
              <a:t>plt.plot</a:t>
            </a:r>
            <a:r>
              <a:rPr lang="en-US" dirty="0"/>
              <a:t>([1, 2, 3], [4, 5, 6])</a:t>
            </a:r>
          </a:p>
          <a:p>
            <a:pPr marL="0" indent="0">
              <a:buNone/>
            </a:pPr>
            <a:r>
              <a:rPr lang="en-US" dirty="0" err="1"/>
              <a:t>plt.title</a:t>
            </a:r>
            <a:r>
              <a:rPr lang="en-US" dirty="0"/>
              <a:t>('</a:t>
            </a:r>
            <a:r>
              <a:rPr lang="en-US" dirty="0" err="1"/>
              <a:t>Pyplot</a:t>
            </a:r>
            <a:r>
              <a:rPr lang="en-US" dirty="0"/>
              <a:t> Line Plot')</a:t>
            </a:r>
          </a:p>
          <a:p>
            <a:pPr marL="0" indent="0">
              <a:buNone/>
            </a:pPr>
            <a:r>
              <a:rPr lang="en-US" dirty="0" err="1"/>
              <a:t>plt.xlabel</a:t>
            </a:r>
            <a:r>
              <a:rPr lang="en-US" dirty="0"/>
              <a:t>('X Axis')</a:t>
            </a:r>
          </a:p>
          <a:p>
            <a:pPr marL="0" indent="0">
              <a:buNone/>
            </a:pPr>
            <a:r>
              <a:rPr lang="en-US" dirty="0" err="1"/>
              <a:t>plt.ylabel</a:t>
            </a:r>
            <a:r>
              <a:rPr lang="en-US" dirty="0"/>
              <a:t>('Y Axis')</a:t>
            </a:r>
          </a:p>
          <a:p>
            <a:pPr marL="0" indent="0">
              <a:buNone/>
            </a:pPr>
            <a:r>
              <a:rPr lang="en-US" dirty="0" err="1"/>
              <a:t>plt.grid</a:t>
            </a:r>
            <a:r>
              <a:rPr lang="en-US" dirty="0"/>
              <a:t>(True)</a:t>
            </a:r>
          </a:p>
          <a:p>
            <a:pPr marL="0" indent="0">
              <a:buNone/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C075BA-6FC5-858C-EF33-BE7500C8D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898" y="1899228"/>
            <a:ext cx="5880102" cy="4204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839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ECDB9-776E-3C63-A262-9BAE29DAE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48D78-0260-BDDF-B805-38AB03AF8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6517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 err="1"/>
              <a:t>plt.plot</a:t>
            </a:r>
            <a:r>
              <a:rPr lang="en-US" dirty="0"/>
              <a:t>([1, 2, 3, 4]) </a:t>
            </a:r>
          </a:p>
          <a:p>
            <a:pPr marL="0" indent="0">
              <a:buNone/>
            </a:pPr>
            <a:r>
              <a:rPr lang="en-US" dirty="0" err="1"/>
              <a:t>plt.ylabel</a:t>
            </a:r>
            <a:r>
              <a:rPr lang="en-US" dirty="0"/>
              <a:t>('some numbers’) </a:t>
            </a:r>
          </a:p>
          <a:p>
            <a:pPr marL="0" indent="0">
              <a:buNone/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 descr="pyplot">
            <a:extLst>
              <a:ext uri="{FF2B5EF4-FFF2-40B4-BE49-F238E27FC236}">
                <a16:creationId xmlns:a16="http://schemas.microsoft.com/office/drawing/2014/main" id="{AA16CFF4-AACB-6BAF-2D6C-F5A415CF2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7212" y="1401694"/>
            <a:ext cx="5456588" cy="4092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63B07D-DCBA-10E8-75DC-1DBE7154C8FC}"/>
              </a:ext>
            </a:extLst>
          </p:cNvPr>
          <p:cNvSpPr txBox="1"/>
          <p:nvPr/>
        </p:nvSpPr>
        <p:spPr>
          <a:xfrm>
            <a:off x="318415" y="4973446"/>
            <a:ext cx="609858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x-axis ranges from 0-3 and the y-axis from 1-4. If you provide a single list or array to plot, matplotlib assumes it is a sequence of y values, and automatically generates the x values for you. Since python ranges start with 0, the default x vector has the same length as y but starts with 0; therefore, the x data are [0, 1, 2, 3].</a:t>
            </a:r>
          </a:p>
        </p:txBody>
      </p:sp>
    </p:spTree>
    <p:extLst>
      <p:ext uri="{BB962C8B-B14F-4D97-AF65-F5344CB8AC3E}">
        <p14:creationId xmlns:p14="http://schemas.microsoft.com/office/powerpoint/2010/main" val="3639597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76D20-5A3F-31E7-CE51-1A16A08F6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5407F-A51C-5C15-664C-84974B5B8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05041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/>
              <a:t># Create a simple line plot using </a:t>
            </a:r>
            <a:r>
              <a:rPr lang="en-US" sz="2000" dirty="0" err="1"/>
              <a:t>pyplot</a:t>
            </a:r>
            <a:endParaRPr lang="en-US" sz="2000" dirty="0"/>
          </a:p>
          <a:p>
            <a:pPr marL="0" indent="0">
              <a:buNone/>
            </a:pPr>
            <a:r>
              <a:rPr lang="en-US" dirty="0" err="1"/>
              <a:t>plt.scatter</a:t>
            </a:r>
            <a:r>
              <a:rPr lang="en-US" dirty="0"/>
              <a:t>([1, 2, 3], [4, 5, 6])</a:t>
            </a:r>
          </a:p>
          <a:p>
            <a:pPr marL="0" indent="0">
              <a:buNone/>
            </a:pPr>
            <a:r>
              <a:rPr lang="en-US" dirty="0" err="1"/>
              <a:t>plt.title</a:t>
            </a:r>
            <a:r>
              <a:rPr lang="en-US" dirty="0"/>
              <a:t>('</a:t>
            </a:r>
            <a:r>
              <a:rPr lang="en-US" dirty="0" err="1"/>
              <a:t>Pyplot</a:t>
            </a:r>
            <a:r>
              <a:rPr lang="en-US" dirty="0"/>
              <a:t> Line Plot')</a:t>
            </a:r>
          </a:p>
          <a:p>
            <a:pPr marL="0" indent="0">
              <a:buNone/>
            </a:pPr>
            <a:r>
              <a:rPr lang="en-US" dirty="0" err="1"/>
              <a:t>plt.xlabel</a:t>
            </a:r>
            <a:r>
              <a:rPr lang="en-US" dirty="0"/>
              <a:t>('X Axis')</a:t>
            </a:r>
          </a:p>
          <a:p>
            <a:pPr marL="0" indent="0">
              <a:buNone/>
            </a:pPr>
            <a:r>
              <a:rPr lang="en-US" dirty="0" err="1"/>
              <a:t>plt.ylabel</a:t>
            </a:r>
            <a:r>
              <a:rPr lang="en-US" dirty="0"/>
              <a:t>('Y Axis')</a:t>
            </a:r>
          </a:p>
          <a:p>
            <a:pPr marL="0" indent="0">
              <a:buNone/>
            </a:pPr>
            <a:r>
              <a:rPr lang="en-US" dirty="0" err="1"/>
              <a:t>plt.grid</a:t>
            </a:r>
            <a:r>
              <a:rPr lang="en-US" dirty="0"/>
              <a:t>(True)</a:t>
            </a:r>
          </a:p>
          <a:p>
            <a:pPr marL="0" indent="0">
              <a:buNone/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FEF3D6-832E-62F3-63AC-E1971D74D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476" y="1825625"/>
            <a:ext cx="5894138" cy="421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4947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6E202-3649-3EA8-0C2E-213EAC2B8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CAD6D-5A15-79E6-9E2E-5D6809CA0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8510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matplotlib.pyplot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</a:t>
            </a:r>
            <a:br>
              <a:rPr lang="en-US" sz="2400" dirty="0"/>
            </a:b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np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=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np.array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"B"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"C"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4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"D"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US" sz="2400" dirty="0"/>
            </a:b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 =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np.array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plt.bar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x,y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sz="2400" dirty="0"/>
            </a:b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plt.show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108483-E87A-2A41-7237-495E32736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6780" y="1530737"/>
            <a:ext cx="5595213" cy="4000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4144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D2E286-30E0-31D7-AF29-28593EC47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05" y="710740"/>
            <a:ext cx="11748589" cy="543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7681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5EFEE7-E166-2D16-4FAD-5374B46D9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86" y="741736"/>
            <a:ext cx="11614618" cy="5374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38430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B46770-8069-601D-6234-6C9F38BED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457" y="444445"/>
            <a:ext cx="11808013" cy="611133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E5089B0-B4C2-44FC-C8EA-664DF887B650}"/>
              </a:ext>
            </a:extLst>
          </p:cNvPr>
          <p:cNvSpPr/>
          <p:nvPr/>
        </p:nvSpPr>
        <p:spPr>
          <a:xfrm>
            <a:off x="619932" y="3859078"/>
            <a:ext cx="4324027" cy="49594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91934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E1292-A22E-E4B8-A64D-CED902EFA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2F438D-3038-42AE-C205-7788128723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3668"/>
          <a:stretch/>
        </p:blipFill>
        <p:spPr>
          <a:xfrm>
            <a:off x="387458" y="444445"/>
            <a:ext cx="5470902" cy="611133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88F6E09-6E56-18A0-192F-0D7E22A2E1FC}"/>
              </a:ext>
            </a:extLst>
          </p:cNvPr>
          <p:cNvSpPr/>
          <p:nvPr/>
        </p:nvSpPr>
        <p:spPr>
          <a:xfrm>
            <a:off x="619932" y="3859078"/>
            <a:ext cx="4324027" cy="49594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4CEA31-EB6D-CBF8-11D6-456240BA5649}"/>
              </a:ext>
            </a:extLst>
          </p:cNvPr>
          <p:cNvSpPr txBox="1"/>
          <p:nvPr/>
        </p:nvSpPr>
        <p:spPr>
          <a:xfrm>
            <a:off x="5705960" y="868624"/>
            <a:ext cx="609858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In Matplotlib, the subplots() function returns </a:t>
            </a:r>
            <a:r>
              <a:rPr lang="en-US" sz="2400" b="1" dirty="0"/>
              <a:t>two values</a:t>
            </a:r>
            <a:r>
              <a:rPr lang="en-US" sz="2400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Figure (fig)</a:t>
            </a:r>
            <a:r>
              <a:rPr lang="en-US" sz="2400" dirty="0"/>
              <a:t>: This is an instance of the </a:t>
            </a:r>
            <a:r>
              <a:rPr lang="en-US" sz="2400" dirty="0" err="1"/>
              <a:t>matplotlib.figure.Figure</a:t>
            </a:r>
            <a:r>
              <a:rPr lang="en-US" sz="2400" dirty="0"/>
              <a:t> class. It represents the entire figure or window that holds one or more subplots. You can use this to set the overall title, size, or other properties of the figure.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Axes (ax)</a:t>
            </a:r>
            <a:r>
              <a:rPr lang="en-US" sz="2400" dirty="0"/>
              <a:t>: This can be: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400" dirty="0"/>
              <a:t>A single Axes object if only one subplot is created.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400" dirty="0"/>
              <a:t>A </a:t>
            </a:r>
            <a:r>
              <a:rPr lang="en-US" sz="2400" b="1" dirty="0"/>
              <a:t>NumPy array of Axes objects</a:t>
            </a:r>
            <a:r>
              <a:rPr lang="en-US" sz="2400" dirty="0"/>
              <a:t> if multiple subplots are created. The shape of this array corresponds to the grid layout specified (e.g., 2x2 grid).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EA9384-DEB4-C2C2-C1C2-99EF6137D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4406" y="508055"/>
            <a:ext cx="6411131" cy="5905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D17635-6F3C-EC4D-6BC9-50C011A4BE4A}"/>
              </a:ext>
            </a:extLst>
          </p:cNvPr>
          <p:cNvSpPr txBox="1"/>
          <p:nvPr/>
        </p:nvSpPr>
        <p:spPr>
          <a:xfrm>
            <a:off x="864031" y="6300003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/>
              <a:t>fig.suptitle</a:t>
            </a:r>
            <a:r>
              <a:rPr lang="en-US" sz="2800" dirty="0"/>
              <a:t>("Complete Caption")</a:t>
            </a:r>
          </a:p>
        </p:txBody>
      </p:sp>
    </p:spTree>
    <p:extLst>
      <p:ext uri="{BB962C8B-B14F-4D97-AF65-F5344CB8AC3E}">
        <p14:creationId xmlns:p14="http://schemas.microsoft.com/office/powerpoint/2010/main" val="3480133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93B8135-7C04-3F69-8B6C-5CFEC51409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024924"/>
            <a:ext cx="10515600" cy="4808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0489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747CB8-B006-2295-A66F-A5C42BECA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639" y="967072"/>
            <a:ext cx="9780722" cy="492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7200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26099-795E-D82A-DC32-6E8D1184B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47" y="988716"/>
            <a:ext cx="5950057" cy="528809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%pip install seaborn</a:t>
            </a:r>
          </a:p>
          <a:p>
            <a:pPr marL="0" indent="0">
              <a:buNone/>
            </a:pPr>
            <a:r>
              <a:rPr lang="en-US" dirty="0"/>
              <a:t>import seaborn as </a:t>
            </a:r>
            <a:r>
              <a:rPr lang="en-US" dirty="0" err="1"/>
              <a:t>sns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import pandas as pd</a:t>
            </a:r>
          </a:p>
          <a:p>
            <a:pPr marL="0" indent="0">
              <a:buNone/>
            </a:pPr>
            <a:r>
              <a:rPr lang="en-US" dirty="0"/>
              <a:t># reading the database</a:t>
            </a:r>
          </a:p>
          <a:p>
            <a:pPr marL="0" indent="0">
              <a:buNone/>
            </a:pPr>
            <a:r>
              <a:rPr lang="en-US" dirty="0"/>
              <a:t>data = </a:t>
            </a:r>
            <a:r>
              <a:rPr lang="en-US" dirty="0" err="1"/>
              <a:t>pd.read_csv</a:t>
            </a:r>
            <a:r>
              <a:rPr lang="en-US" dirty="0"/>
              <a:t>("</a:t>
            </a:r>
            <a:r>
              <a:rPr lang="en-US" dirty="0" err="1"/>
              <a:t>iris.csv</a:t>
            </a:r>
            <a:r>
              <a:rPr lang="en-US" dirty="0"/>
              <a:t>")</a:t>
            </a:r>
          </a:p>
          <a:p>
            <a:pPr marL="0" indent="0">
              <a:buNone/>
            </a:pPr>
            <a:r>
              <a:rPr lang="en-US" dirty="0"/>
              <a:t># draw </a:t>
            </a:r>
            <a:r>
              <a:rPr lang="en-US" dirty="0" err="1"/>
              <a:t>lineplot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sns.lineplot</a:t>
            </a:r>
            <a:r>
              <a:rPr lang="en-US" dirty="0"/>
              <a:t>(x="</a:t>
            </a:r>
            <a:r>
              <a:rPr lang="en-US" dirty="0" err="1"/>
              <a:t>sepal_length</a:t>
            </a:r>
            <a:r>
              <a:rPr lang="en-US" dirty="0"/>
              <a:t>", y="</a:t>
            </a:r>
            <a:r>
              <a:rPr lang="en-US" dirty="0" err="1"/>
              <a:t>sepal_width</a:t>
            </a:r>
            <a:r>
              <a:rPr lang="en-US" dirty="0"/>
              <a:t>", data=data) </a:t>
            </a:r>
          </a:p>
          <a:p>
            <a:pPr marL="0" indent="0">
              <a:buNone/>
            </a:pPr>
            <a:r>
              <a:rPr lang="en-US" dirty="0" err="1"/>
              <a:t>plt.title</a:t>
            </a:r>
            <a:r>
              <a:rPr lang="en-US" dirty="0"/>
              <a:t>('Title using Matplotlib Function') </a:t>
            </a:r>
          </a:p>
          <a:p>
            <a:pPr marL="0" indent="0">
              <a:buNone/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DD03C9-1471-C033-D872-2855CF7E1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27930"/>
            <a:ext cx="5950057" cy="440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17489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3B932F-6AEE-01A1-875B-00D3B60CC6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2-Dimensional NumPy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E05F8FF-AF77-7E92-FE00-B2ABAF764E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00390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59E23-997C-30B0-9CAE-C1AA6F88F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2-D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C8A5A-6B71-72F7-08B5-7B128261E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</a:rPr>
              <a:t>&gt;&gt; a</a:t>
            </a:r>
            <a:r>
              <a:rPr lang="en-US" dirty="0"/>
              <a:t> </a:t>
            </a:r>
            <a:r>
              <a:rPr lang="en-US" dirty="0">
                <a:solidFill>
                  <a:srgbClr val="00622F"/>
                </a:solidFill>
                <a:effectLst/>
              </a:rPr>
              <a:t>=</a:t>
            </a:r>
            <a:r>
              <a:rPr lang="en-US" dirty="0"/>
              <a:t> </a:t>
            </a:r>
            <a:r>
              <a:rPr lang="en-US" dirty="0" err="1">
                <a:solidFill>
                  <a:srgbClr val="080808"/>
                </a:solidFill>
                <a:effectLst/>
              </a:rPr>
              <a:t>np</a:t>
            </a:r>
            <a:r>
              <a:rPr lang="en-US" dirty="0" err="1">
                <a:solidFill>
                  <a:srgbClr val="00622F"/>
                </a:solidFill>
                <a:effectLst/>
              </a:rPr>
              <a:t>.</a:t>
            </a:r>
            <a:r>
              <a:rPr lang="en-US" dirty="0" err="1">
                <a:solidFill>
                  <a:srgbClr val="080808"/>
                </a:solidFill>
                <a:effectLst/>
              </a:rPr>
              <a:t>array</a:t>
            </a:r>
            <a:r>
              <a:rPr lang="en-US" dirty="0">
                <a:solidFill>
                  <a:srgbClr val="080808"/>
                </a:solidFill>
                <a:effectLst/>
              </a:rPr>
              <a:t>([[</a:t>
            </a:r>
            <a:r>
              <a:rPr lang="en-US" dirty="0">
                <a:solidFill>
                  <a:srgbClr val="7F4707"/>
                </a:solidFill>
                <a:effectLst/>
              </a:rPr>
              <a:t>1</a:t>
            </a:r>
            <a:r>
              <a:rPr lang="en-US" dirty="0">
                <a:solidFill>
                  <a:srgbClr val="080808"/>
                </a:solidFill>
                <a:effectLst/>
              </a:rPr>
              <a:t>,</a:t>
            </a:r>
            <a:r>
              <a:rPr lang="en-US" dirty="0"/>
              <a:t> </a:t>
            </a:r>
            <a:r>
              <a:rPr lang="en-US" dirty="0">
                <a:solidFill>
                  <a:srgbClr val="7F4707"/>
                </a:solidFill>
                <a:effectLst/>
              </a:rPr>
              <a:t>2</a:t>
            </a:r>
            <a:r>
              <a:rPr lang="en-US" dirty="0">
                <a:solidFill>
                  <a:srgbClr val="080808"/>
                </a:solidFill>
                <a:effectLst/>
              </a:rPr>
              <a:t>,</a:t>
            </a:r>
            <a:r>
              <a:rPr lang="en-US" dirty="0"/>
              <a:t> </a:t>
            </a:r>
            <a:r>
              <a:rPr lang="en-US" dirty="0">
                <a:solidFill>
                  <a:srgbClr val="7F4707"/>
                </a:solidFill>
                <a:effectLst/>
              </a:rPr>
              <a:t>3</a:t>
            </a:r>
            <a:r>
              <a:rPr lang="en-US" dirty="0">
                <a:solidFill>
                  <a:srgbClr val="080808"/>
                </a:solidFill>
                <a:effectLst/>
              </a:rPr>
              <a:t>],[</a:t>
            </a:r>
            <a:r>
              <a:rPr lang="en-US" dirty="0">
                <a:solidFill>
                  <a:srgbClr val="7F4707"/>
                </a:solidFill>
                <a:effectLst/>
              </a:rPr>
              <a:t>4</a:t>
            </a:r>
            <a:r>
              <a:rPr lang="en-US" dirty="0">
                <a:solidFill>
                  <a:srgbClr val="080808"/>
                </a:solidFill>
                <a:effectLst/>
              </a:rPr>
              <a:t>,</a:t>
            </a:r>
            <a:r>
              <a:rPr lang="en-US" dirty="0"/>
              <a:t> </a:t>
            </a:r>
            <a:r>
              <a:rPr lang="en-US" dirty="0">
                <a:solidFill>
                  <a:srgbClr val="7F4707"/>
                </a:solidFill>
                <a:effectLst/>
              </a:rPr>
              <a:t>5</a:t>
            </a:r>
            <a:r>
              <a:rPr lang="en-US" dirty="0">
                <a:solidFill>
                  <a:srgbClr val="080808"/>
                </a:solidFill>
                <a:effectLst/>
              </a:rPr>
              <a:t>,</a:t>
            </a:r>
            <a:r>
              <a:rPr lang="en-US" dirty="0"/>
              <a:t> </a:t>
            </a:r>
            <a:r>
              <a:rPr lang="en-US" dirty="0">
                <a:solidFill>
                  <a:srgbClr val="7F4707"/>
                </a:solidFill>
                <a:effectLst/>
              </a:rPr>
              <a:t>6</a:t>
            </a:r>
            <a:r>
              <a:rPr lang="en-US" dirty="0">
                <a:solidFill>
                  <a:srgbClr val="080808"/>
                </a:solidFill>
                <a:effectLst/>
              </a:rPr>
              <a:t>]])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>
                <a:effectLst/>
              </a:rPr>
              <a:t>&gt;&gt; </a:t>
            </a:r>
            <a:r>
              <a:rPr lang="en-US" dirty="0" err="1">
                <a:solidFill>
                  <a:srgbClr val="080808"/>
                </a:solidFill>
                <a:effectLst/>
              </a:rPr>
              <a:t>a</a:t>
            </a:r>
            <a:r>
              <a:rPr lang="en-US" dirty="0" err="1">
                <a:solidFill>
                  <a:srgbClr val="00622F"/>
                </a:solidFill>
                <a:effectLst/>
              </a:rPr>
              <a:t>.</a:t>
            </a:r>
            <a:r>
              <a:rPr lang="en-US" dirty="0" err="1">
                <a:solidFill>
                  <a:srgbClr val="080808"/>
                </a:solidFill>
                <a:effectLst/>
              </a:rPr>
              <a:t>shape</a:t>
            </a:r>
            <a:endParaRPr lang="en-US" dirty="0">
              <a:solidFill>
                <a:srgbClr val="080808"/>
              </a:solidFill>
              <a:effectLst/>
            </a:endParaRP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>
                <a:effectLst/>
              </a:rPr>
              <a:t>(2, 3)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a </a:t>
            </a:r>
            <a:r>
              <a:rPr lang="en-US" dirty="0" err="1"/>
              <a:t>numpy</a:t>
            </a:r>
            <a:r>
              <a:rPr lang="en-US" dirty="0"/>
              <a:t> array of following list containing three nested lists: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</a:rPr>
              <a:t>a</a:t>
            </a:r>
            <a:r>
              <a:rPr lang="en-US" dirty="0"/>
              <a:t> </a:t>
            </a:r>
            <a:r>
              <a:rPr lang="en-US" dirty="0">
                <a:solidFill>
                  <a:srgbClr val="00622F"/>
                </a:solidFill>
                <a:effectLst/>
              </a:rPr>
              <a:t>=</a:t>
            </a:r>
            <a:r>
              <a:rPr lang="en-US" dirty="0"/>
              <a:t> </a:t>
            </a:r>
            <a:r>
              <a:rPr lang="en-US" dirty="0">
                <a:solidFill>
                  <a:srgbClr val="080808"/>
                </a:solidFill>
                <a:effectLst/>
              </a:rPr>
              <a:t>[</a:t>
            </a:r>
            <a:r>
              <a:rPr lang="en-US" dirty="0"/>
              <a:t>[11,12,13]</a:t>
            </a:r>
            <a:r>
              <a:rPr lang="en-US" dirty="0">
                <a:solidFill>
                  <a:srgbClr val="080808"/>
                </a:solidFill>
                <a:effectLst/>
              </a:rPr>
              <a:t>,[</a:t>
            </a:r>
            <a:r>
              <a:rPr lang="en-US" dirty="0">
                <a:solidFill>
                  <a:srgbClr val="7F4707"/>
                </a:solidFill>
                <a:effectLst/>
              </a:rPr>
              <a:t>21,22,23</a:t>
            </a:r>
            <a:r>
              <a:rPr lang="en-US" dirty="0">
                <a:solidFill>
                  <a:srgbClr val="080808"/>
                </a:solidFill>
                <a:effectLst/>
              </a:rPr>
              <a:t>],[31,32,33]]</a:t>
            </a:r>
          </a:p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</a:rPr>
              <a:t>A = </a:t>
            </a:r>
            <a:r>
              <a:rPr lang="en-US" dirty="0" err="1">
                <a:solidFill>
                  <a:srgbClr val="080808"/>
                </a:solidFill>
                <a:effectLst/>
              </a:rPr>
              <a:t>np</a:t>
            </a:r>
            <a:r>
              <a:rPr lang="en-US" dirty="0" err="1">
                <a:solidFill>
                  <a:srgbClr val="00622F"/>
                </a:solidFill>
                <a:effectLst/>
              </a:rPr>
              <a:t>.</a:t>
            </a:r>
            <a:r>
              <a:rPr lang="en-US" dirty="0" err="1">
                <a:solidFill>
                  <a:srgbClr val="080808"/>
                </a:solidFill>
                <a:effectLst/>
              </a:rPr>
              <a:t>array</a:t>
            </a:r>
            <a:r>
              <a:rPr lang="en-US" dirty="0">
                <a:solidFill>
                  <a:srgbClr val="080808"/>
                </a:solidFill>
                <a:effectLst/>
              </a:rPr>
              <a:t>(a)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A44605-85A1-2B48-D76F-AA8668A96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740" y="4505960"/>
            <a:ext cx="3048000" cy="18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383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8B881-42BF-0A77-4241-A91F2BEE1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DED37-7379-741D-1931-1CB2CCF39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2-D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7C995-3B80-71E7-C076-04FF2005E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3550" y="1825625"/>
            <a:ext cx="58102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80808"/>
                </a:solidFill>
                <a:effectLst/>
              </a:rPr>
              <a:t>[</a:t>
            </a:r>
            <a:r>
              <a:rPr lang="en-US" dirty="0"/>
              <a:t>[11,12,13]</a:t>
            </a:r>
            <a:r>
              <a:rPr lang="en-US" dirty="0">
                <a:solidFill>
                  <a:srgbClr val="080808"/>
                </a:solidFill>
                <a:effectLst/>
              </a:rPr>
              <a:t>,[</a:t>
            </a:r>
            <a:r>
              <a:rPr lang="en-US" dirty="0">
                <a:solidFill>
                  <a:srgbClr val="7F4707"/>
                </a:solidFill>
                <a:effectLst/>
              </a:rPr>
              <a:t>21,22,23</a:t>
            </a:r>
            <a:r>
              <a:rPr lang="en-US" dirty="0">
                <a:solidFill>
                  <a:srgbClr val="080808"/>
                </a:solidFill>
                <a:effectLst/>
              </a:rPr>
              <a:t>],[31,32,33]]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B4E03F2-9C1C-5C9A-9D43-78682EC25326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440817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80808"/>
                </a:solidFill>
              </a:rPr>
              <a:t>&gt;&gt; </a:t>
            </a:r>
            <a:r>
              <a:rPr lang="en-US" dirty="0" err="1">
                <a:solidFill>
                  <a:srgbClr val="080808"/>
                </a:solidFill>
              </a:rPr>
              <a:t>A.ndim</a:t>
            </a:r>
            <a:endParaRPr lang="en-US" dirty="0">
              <a:solidFill>
                <a:srgbClr val="080808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FF0000"/>
                </a:solidFill>
              </a:rPr>
              <a:t>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80808"/>
                </a:solidFill>
              </a:rPr>
              <a:t>&gt;&gt; </a:t>
            </a:r>
            <a:r>
              <a:rPr lang="en-US" dirty="0" err="1">
                <a:solidFill>
                  <a:srgbClr val="080808"/>
                </a:solidFill>
              </a:rPr>
              <a:t>A.shape</a:t>
            </a:r>
            <a:endParaRPr lang="en-US" dirty="0">
              <a:solidFill>
                <a:srgbClr val="080808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FF0000"/>
                </a:solidFill>
              </a:rPr>
              <a:t>(3,3)          //a tuple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rgbClr val="080808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80808"/>
                </a:solidFill>
              </a:rPr>
              <a:t>&gt;&gt;</a:t>
            </a:r>
            <a:r>
              <a:rPr lang="en-US" dirty="0" err="1">
                <a:solidFill>
                  <a:srgbClr val="080808"/>
                </a:solidFill>
              </a:rPr>
              <a:t>A.size</a:t>
            </a:r>
            <a:endParaRPr lang="en-US" dirty="0">
              <a:solidFill>
                <a:srgbClr val="080808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FF0000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120331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F7DFF-F7F1-06C5-3DD5-37C9A280C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2D NumPy	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79B7D9F-2EA8-BAB8-3E51-3DDF36111A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5521"/>
          <a:stretch/>
        </p:blipFill>
        <p:spPr>
          <a:xfrm>
            <a:off x="838200" y="1623377"/>
            <a:ext cx="10515600" cy="320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6516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76FC6-CA06-BF48-5F0C-95E1C9C1C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667738-DBEB-18B6-F726-4FF450AE1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C851C7-4119-9FB2-07F6-6616026B2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728" y="1902301"/>
            <a:ext cx="10268543" cy="41979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AE7FA5-40B9-FE07-FCE6-C6AAA83FA25B}"/>
              </a:ext>
            </a:extLst>
          </p:cNvPr>
          <p:cNvSpPr txBox="1"/>
          <p:nvPr/>
        </p:nvSpPr>
        <p:spPr>
          <a:xfrm>
            <a:off x="6295073" y="3429000"/>
            <a:ext cx="60979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3600" dirty="0">
                <a:solidFill>
                  <a:srgbClr val="FF0000"/>
                </a:solidFill>
              </a:rPr>
              <a:t>: 23</a:t>
            </a:r>
          </a:p>
        </p:txBody>
      </p:sp>
    </p:spTree>
    <p:extLst>
      <p:ext uri="{BB962C8B-B14F-4D97-AF65-F5344CB8AC3E}">
        <p14:creationId xmlns:p14="http://schemas.microsoft.com/office/powerpoint/2010/main" val="4210875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AA357-9C7D-48D6-9BDC-E42486E12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Slicing in 2D NumPy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4FE72-C11B-A568-C0D6-C63BE47B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&gt;&gt; A [0, 0 : 2]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Array([11,12])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&gt;&gt; A[0:2, 2]</a:t>
            </a:r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Array([13,23])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743643-1696-BD8F-8CBE-79D019C304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047" t="61961" r="38906"/>
          <a:stretch/>
        </p:blipFill>
        <p:spPr>
          <a:xfrm>
            <a:off x="6979636" y="2103120"/>
            <a:ext cx="3924585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739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729D0-E7DE-8F72-C7D3-4D31C9395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 in 2D NumPy Array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C830BFE-837E-C204-D4F5-D08CB91785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4819" t="33498" r="16268" b="35668"/>
          <a:stretch/>
        </p:blipFill>
        <p:spPr>
          <a:xfrm>
            <a:off x="453391" y="2206030"/>
            <a:ext cx="5730240" cy="10481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60A636-1F0A-CA29-CE2E-2FDF75B166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475" r="29767" b="67945"/>
          <a:stretch/>
        </p:blipFill>
        <p:spPr>
          <a:xfrm>
            <a:off x="207644" y="3872736"/>
            <a:ext cx="6118885" cy="143808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67576C8-6FF1-8264-0995-EE7EA7BAA55B}"/>
              </a:ext>
            </a:extLst>
          </p:cNvPr>
          <p:cNvSpPr txBox="1">
            <a:spLocks/>
          </p:cNvSpPr>
          <p:nvPr/>
        </p:nvSpPr>
        <p:spPr>
          <a:xfrm>
            <a:off x="6640831" y="188293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&gt;&gt; x= </a:t>
            </a:r>
            <a:r>
              <a:rPr lang="en-US" dirty="0" err="1"/>
              <a:t>np.array</a:t>
            </a:r>
            <a:r>
              <a:rPr lang="en-US" dirty="0"/>
              <a:t>([[1,0], [0, 1]])</a:t>
            </a:r>
          </a:p>
          <a:p>
            <a:pPr marL="0" indent="0">
              <a:buNone/>
            </a:pPr>
            <a:r>
              <a:rPr lang="en-US" dirty="0"/>
              <a:t>&gt;&gt; y= </a:t>
            </a:r>
            <a:r>
              <a:rPr lang="en-US" dirty="0" err="1"/>
              <a:t>np.array</a:t>
            </a:r>
            <a:r>
              <a:rPr lang="en-US" dirty="0"/>
              <a:t>([[2,1], [1, 2]])</a:t>
            </a:r>
          </a:p>
          <a:p>
            <a:pPr marL="0" indent="0">
              <a:buNone/>
            </a:pPr>
            <a:r>
              <a:rPr lang="en-US" dirty="0"/>
              <a:t>&gt;&gt; z = x + y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Z: array([[3,1],[1,3]])</a:t>
            </a:r>
          </a:p>
        </p:txBody>
      </p:sp>
    </p:spTree>
    <p:extLst>
      <p:ext uri="{BB962C8B-B14F-4D97-AF65-F5344CB8AC3E}">
        <p14:creationId xmlns:p14="http://schemas.microsoft.com/office/powerpoint/2010/main" val="1346700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B9A99-A21A-9097-A9DE-C25F6A3BC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02740-F0C2-701C-1098-367DCDC85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Multiplication (scalar) in 2D NumPy Array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E4042E2-E8C8-81EA-3802-C3B423CE5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9351C9-C2D9-707B-BAF4-20BD2499F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070" y="1690688"/>
            <a:ext cx="874445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24151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5ADE-19C9-2407-DDF7-E17DAC035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88CD9-72A6-B6C9-2704-8231A2D3D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Multiplication (Hadamard Product) in 2D NumPy Array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B5E58A7B-4977-C4A7-BBCB-79E7B213D6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3776" y="1825625"/>
            <a:ext cx="874444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40834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E28D8-1C40-9F09-4333-A59A75A8E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Multiplication with NumPy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EF13C-8DE8-C705-ECAE-2CD1AC0E9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Number of columns in A is equal to number of rows of B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DC7C39-1652-40A9-D157-D599C0653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44265"/>
            <a:ext cx="5611788" cy="2802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7F7F8D-01F6-4268-4198-DBFE0B9DBB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4853"/>
          <a:stretch/>
        </p:blipFill>
        <p:spPr>
          <a:xfrm>
            <a:off x="7170420" y="2309328"/>
            <a:ext cx="4286250" cy="3867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360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CC54B-A5B2-F8C5-71A5-682CD24B4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</a:t>
            </a:r>
            <a:r>
              <a:rPr lang="en-US"/>
              <a:t>NumPy functions for Data Science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872E5-219F-F635-B880-61CD3B7B2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https://www.kaggle.com/code/abhayparashar31/best-numpy-functions-for-data-science-50#Replacing-Values-Inside-Array</a:t>
            </a:r>
            <a:endParaRPr lang="en-US" dirty="0"/>
          </a:p>
          <a:p>
            <a:r>
              <a:rPr lang="en-US" dirty="0">
                <a:hlinkClick r:id="rId3"/>
              </a:rPr>
              <a:t>https://stackoverflow.com/questions/4674473/valueerror-setting-an-array-element-with-a-sequence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2FCA44-DEB9-DC7A-31A6-71B17C68F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6938963"/>
            <a:ext cx="7772400" cy="3094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98453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6FB7E-58A1-2384-F6DE-DF35D14D4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67B60D1-BBBC-7F8B-28CF-85857BBB5C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34840" y="309826"/>
            <a:ext cx="2874669" cy="638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660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3195</TotalTime>
  <Words>4342</Words>
  <Application>Microsoft Macintosh PowerPoint</Application>
  <PresentationFormat>Widescreen</PresentationFormat>
  <Paragraphs>570</Paragraphs>
  <Slides>71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82" baseType="lpstr">
      <vt:lpstr>-apple-system</vt:lpstr>
      <vt:lpstr>Arial</vt:lpstr>
      <vt:lpstr>Arial Narrow</vt:lpstr>
      <vt:lpstr>Calibri</vt:lpstr>
      <vt:lpstr>Calibri Light</vt:lpstr>
      <vt:lpstr>Consolas</vt:lpstr>
      <vt:lpstr>Helvetica</vt:lpstr>
      <vt:lpstr>inherit</vt:lpstr>
      <vt:lpstr>Source Sans Pro</vt:lpstr>
      <vt:lpstr>source-serif-pro</vt:lpstr>
      <vt:lpstr>Office Theme</vt:lpstr>
      <vt:lpstr>NumPy – Numerical Python</vt:lpstr>
      <vt:lpstr>NumPy</vt:lpstr>
      <vt:lpstr>    Arrays            vs   Matrices</vt:lpstr>
      <vt:lpstr>Numpy Array (ND Array)</vt:lpstr>
      <vt:lpstr>ND Array - Attributes</vt:lpstr>
      <vt:lpstr>PowerPoint Presentation</vt:lpstr>
      <vt:lpstr>PowerPoint Presentation</vt:lpstr>
      <vt:lpstr>ND Array – Indexing       &amp;           Slicing</vt:lpstr>
      <vt:lpstr>      Numpy array        vs   Other Python Sequences</vt:lpstr>
      <vt:lpstr>Example - Multiplying each element in a 1-D sequence with the corresponding element in another sequence of the same length</vt:lpstr>
      <vt:lpstr>1. Dynamic Type Checking</vt:lpstr>
      <vt:lpstr>2. High Level Abstractions (List, Tuple,..)</vt:lpstr>
      <vt:lpstr>3. Interpreted Execution (Not Compiled)</vt:lpstr>
      <vt:lpstr>PowerPoint Presentation</vt:lpstr>
      <vt:lpstr>Why is NumPy fast?</vt:lpstr>
      <vt:lpstr>PowerPoint Presentation</vt:lpstr>
      <vt:lpstr>DataFrames -&gt; Numpy</vt:lpstr>
      <vt:lpstr>Basic Operations</vt:lpstr>
      <vt:lpstr>Why Numpy arrays instead of list?</vt:lpstr>
      <vt:lpstr>Recall</vt:lpstr>
      <vt:lpstr>PowerPoint Presentation</vt:lpstr>
      <vt:lpstr>Vector Addition</vt:lpstr>
      <vt:lpstr>PowerPoint Presentation</vt:lpstr>
      <vt:lpstr>Vector Subtraction</vt:lpstr>
      <vt:lpstr>Array/Vector Multiplication with Scalar </vt:lpstr>
      <vt:lpstr>Array/Vector Multiplication with Scalar </vt:lpstr>
      <vt:lpstr>Product of two Arrays</vt:lpstr>
      <vt:lpstr>Hadamard Product (*)</vt:lpstr>
      <vt:lpstr>Dot Product (@)</vt:lpstr>
      <vt:lpstr>Cross Product</vt:lpstr>
      <vt:lpstr>Broadcasting in NumPy</vt:lpstr>
      <vt:lpstr>Same shape</vt:lpstr>
      <vt:lpstr>How Broadcasting Works</vt:lpstr>
      <vt:lpstr>Broadcasting Rules</vt:lpstr>
      <vt:lpstr>Rule 1: CHECK SHAPE: If the arrays differ in the number of dimensions, prepend 1s to the shape of the smaller array.</vt:lpstr>
      <vt:lpstr>PowerPoint Presentation</vt:lpstr>
      <vt:lpstr>PowerPoint Presentation</vt:lpstr>
      <vt:lpstr>Always compare shapes from right to left. The basic rule Two dimensions are compatible if: They are equal, or  One of them is 1  If neither condition is true → broadcasting fails. </vt:lpstr>
      <vt:lpstr>Universal Functions</vt:lpstr>
      <vt:lpstr>Creating Numpy Arrays</vt:lpstr>
      <vt:lpstr>Linspace vs arange</vt:lpstr>
      <vt:lpstr>Plotting using NumPy</vt:lpstr>
      <vt:lpstr>Random Seed and Reproducibility</vt:lpstr>
      <vt:lpstr>Views vs Copies</vt:lpstr>
      <vt:lpstr>Flatten() vs Ravel()</vt:lpstr>
      <vt:lpstr>PowerPoint Presentation</vt:lpstr>
      <vt:lpstr>Data Visualization Libraries in Python</vt:lpstr>
      <vt:lpstr>PowerPoint Presentation</vt:lpstr>
      <vt:lpstr>Line Chart</vt:lpstr>
      <vt:lpstr>PowerPoint Presentation</vt:lpstr>
      <vt:lpstr>Scatter Plot</vt:lpstr>
      <vt:lpstr>Bar Plot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2-Dimensional NumPy</vt:lpstr>
      <vt:lpstr>2-D NumPy</vt:lpstr>
      <vt:lpstr>2-D NumPy</vt:lpstr>
      <vt:lpstr>Accessing 2D NumPy </vt:lpstr>
      <vt:lpstr>PowerPoint Presentation</vt:lpstr>
      <vt:lpstr>Slicing in 2D NumPy Array</vt:lpstr>
      <vt:lpstr>Addition in 2D NumPy Array</vt:lpstr>
      <vt:lpstr>Multiplication (scalar) in 2D NumPy Array</vt:lpstr>
      <vt:lpstr>Multiplication (Hadamard Product) in 2D NumPy Array</vt:lpstr>
      <vt:lpstr>Matrix Multiplication with NumPy Array</vt:lpstr>
      <vt:lpstr>Best NumPy functions for Data Science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Manisha Malik</dc:creator>
  <cp:lastModifiedBy>Manisha Malik</cp:lastModifiedBy>
  <cp:revision>312</cp:revision>
  <dcterms:created xsi:type="dcterms:W3CDTF">2025-01-19T17:28:18Z</dcterms:created>
  <dcterms:modified xsi:type="dcterms:W3CDTF">2026-09-03T04:47:01Z</dcterms:modified>
</cp:coreProperties>
</file>